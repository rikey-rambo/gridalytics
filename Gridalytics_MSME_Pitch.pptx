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I'm presenting Gridalytics — a real-time AI electricity demand forecasting platform built for grid energy efficiency, submitted under the Energy Efficiency theme of MSME Idea Hackathon 6.0. Over the next few minutes I'll walk through the problem we're solving, how the system actually works, what makes it genuinely different, and the results we've already proven live — not just in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India's peak electricity demand crossed roughly 250 GW in 2024 and keeps climbing — driven by AI data centres, EV adoption, and industrial growth. The core problem: most utilities only forecast coarse daily load, but energy is actually wasted in the intraday ramps and peaks that a daily forecast can't see. The result is over-generation and fuel waste, expensive spinning reserves, reliance on polluting peaker plants, and drawal penalties. As demand gets more volatile, forecasting stops being a nice-to-have and becomes mission-critical.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answer is Gridalytics — an AI-as-a-service platform for grid demand forecasting. It's live and self-learning, not an offline research model. Four steps: we ingest real-time SCADA demand data plus weather, air quality, and calendar/festival signals; we engineer 93 features from that data; a 7-model ensemble forecasts demand; and we serve those forecasts through an API and live dashboard, up to 90 days ahead. The objective is simple — remove the guesswork from demand planning so operators can run the grid more efficiently, not just monitor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what's actually running under the hood. Data comes from the Delhi SLDC's SCADA system every 5 minutes, plus weather, air quality, and holiday data. GitHub Actions ingests this automatically every 6 hours into a Supabase Postgres database — we're already sitting on over 252,000 rows of real data. From there we engineer 93 features — lags, rolling statistics, Fourier terms, calendar effects — and feed them into a 7-model ensemble: LightGBM, XGBoost, a PyTorch BiLSTM, SARIMAX, and NeuralProphet, tuned with Optuna and validated with walk-forward cross-validation. All of this is served through a FastAPI backend with 27 endpoints and a 10-page Next.js dashboard. This is a production pipeline, not a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make this genuinely different. First, multi-resolution forecasting — one system predicts at 5-minute, hourly, and daily scales up to 90 days out, catching the intraday ramps most utilities miss entirely. Second, state-of-the-art accuracy — a 7-model ensemble with 93 features, validated with walk-forward cross-validation and zero data leakage, which is where a lot of forecasting work quietly cuts corners. Third, sub-regional and scenario intelligence — separate forecasts per Delhi DISCOM, plus a what-if engine simulating heatwaves, festivals, cloud cover, and air quality. Fourth — this is production MLOps, not a lab demo: it ingests every 6 hours, retrains weekly, and detects drift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projected numbers — they're measured. We're hitting 0.18% MAPE at 5-minute resolution and 0.50% MAPE hourly with an Optuna-tuned LightGBM model. In live production we've sustained a 0.97% rolling average MAPE over 29 consecutive days. Compared to the previous baseline system, we're 137 times more accurate with models 49 times smaller. Everything here comes from walk-forward cross-validation with zero data leakage, on more than 5 years and 252,000-plus rows of real Delhi SLDC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technology side: the frontend is Next.js 14 with Tailwind and Recharts, a 10-page live dashboard. The backend is FastAPI with 27 REST endpoints and JWT authentication. The ML layer runs LightGBM, XGBoost, PyTorch BiLSTM, SARIMAX, and NeuralProphet. Data lives in Supabase Postgres, collected through an automated scraping pipeline. MLOps is handled with Optuna tuning, walk-forward validation, and drift detection with automated weekly retraining. And the whole thing is deployed on Vercel, Render, Supabase, and GitHub Actions — running at zero dollars a month in infrastructure cost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actually benefits from this? SLDCs and grid operators, for day-ahead and intraday scheduling. DISCOMs and utilities, for procurement planning and avoiding drawal penalties. Power exchanges and traders, for informed bidding. Generation companies, for efficient ramp planning. Anyone integrating renewables, for balancing solar and wind variability. EV charging networks, for infrastructure planning. Smart cities and buildings, for energy management. And regulators and policymakers, for capacity and peak-demand planning. This is a genuinely horizontal tool across the entire power value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Translated into impact, this comes down to four things. Efficiency — precise generation scheduling cuts over-generation and fuel waste. Reliability — lower spinning reserves and better peak-shaving reduce grid-instability risk. Cost — fewer drawal penalties and transmission losses; even a 1% improvement in forecast accuracy saves grids crores in real money. And sustainability — smoother solar and wind integration, plus smarter EV-charging and smart-city load planning. This ties directly back to the hackathon's Energy Efficiency theme.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here is concrete, not hypothetical. There are 36 State Load Despatch Centres — one per state or union territory — plus over 70 DISCOMs, 5 regional despatch centres, and 1 national centre. India's peak demand crossed 250 GW in 2024 and keeps rising. Globally, the AI-in-energy and load-forecasting analytics market runs into billions of dollars and is growing at a strong double-digit CAGR. Gridalytics is a B2B SaaS business — recurring revenue, high margins — and we're already running it at near-zero infrastructure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we scale. Today, Delhi is live — five-plus years of real data, deployed, monitored, with 29 days of tracked live accuracy. Next, we expand state by state, using the exact same engine, simply retrained on each grid's local SCADA data. Then, a national multi-DISCOM SaaS platform serving SLDCs, exchanges, and generation companies. And beyond that, a full grid-intelligence suite covering demand response, EV load, and smart-city 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with one number: every 1% improvement in forecast accuracy saves grids crores in fuel, penalties, and reserves. Our goal with Gridalytics is to make India's electricity system measurably more efficient, more reliable, and ready for the demand growth coming from AI, EVs, and industry.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image" Target="../media/image-11-1.png"/><Relationship Id="rId4" Type="http://schemas.openxmlformats.org/officeDocument/2006/relationships/image" Target="../media/image-11-1.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640080" y="548640"/>
            <a:ext cx="91440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MSME IDEA HACKATHON 6.0  ·  THEME: ENERGY EFFICIENCY</a:t>
            </a:r>
            <a:endParaRPr lang="en-US" sz="1200" dirty="0"/>
          </a:p>
        </p:txBody>
      </p:sp>
      <p:sp>
        <p:nvSpPr>
          <p:cNvPr id="3" name="Shape 1"/>
          <p:cNvSpPr/>
          <p:nvPr/>
        </p:nvSpPr>
        <p:spPr>
          <a:xfrm>
            <a:off x="640080" y="1234440"/>
            <a:ext cx="868680" cy="868680"/>
          </a:xfrm>
          <a:prstGeom prst="ellipse">
            <a:avLst/>
          </a:prstGeom>
          <a:solidFill>
            <a:srgbClr val="182F52"/>
          </a:solidFill>
          <a:ln/>
        </p:spPr>
      </p:sp>
      <p:pic>
        <p:nvPicPr>
          <p:cNvPr id="4" name="Image 0" descr="C:\Users\rupes\AppData\Local\Temp\claude\E--Projects-Gridalytics\b1299509-94b8-4995-bcba-996ea2dce8b4\scratchpad\icons\bolt.png">    </p:cNvPr>
          <p:cNvPicPr>
            <a:picLocks noChangeAspect="1"/>
          </p:cNvPicPr>
          <p:nvPr/>
        </p:nvPicPr>
        <p:blipFill>
          <a:blip r:embed="rId1"/>
          <a:stretch>
            <a:fillRect/>
          </a:stretch>
        </p:blipFill>
        <p:spPr>
          <a:xfrm>
            <a:off x="857250" y="1451610"/>
            <a:ext cx="434340" cy="434340"/>
          </a:xfrm>
          <a:prstGeom prst="rect">
            <a:avLst/>
          </a:prstGeom>
        </p:spPr>
      </p:pic>
      <p:sp>
        <p:nvSpPr>
          <p:cNvPr id="5" name="Text 2"/>
          <p:cNvSpPr/>
          <p:nvPr/>
        </p:nvSpPr>
        <p:spPr>
          <a:xfrm>
            <a:off x="594360" y="2148840"/>
            <a:ext cx="10972800" cy="1188720"/>
          </a:xfrm>
          <a:prstGeom prst="rect">
            <a:avLst/>
          </a:prstGeom>
          <a:noFill/>
          <a:ln/>
        </p:spPr>
        <p:txBody>
          <a:bodyPr wrap="square" lIns="0" tIns="0" rIns="0" bIns="0" rtlCol="0" anchor="ctr"/>
          <a:lstStyle/>
          <a:p>
            <a:pPr indent="0" marL="0">
              <a:buNone/>
            </a:pPr>
            <a:r>
              <a:rPr lang="en-US" sz="6000" b="1" spc="100" kern="0" dirty="0">
                <a:solidFill>
                  <a:srgbClr val="FFFFFF"/>
                </a:solidFill>
                <a:latin typeface="Cambria" pitchFamily="34" charset="0"/>
                <a:ea typeface="Cambria" pitchFamily="34" charset="-122"/>
                <a:cs typeface="Cambria" pitchFamily="34" charset="-120"/>
              </a:rPr>
              <a:t>GRIDALYTICS</a:t>
            </a:r>
            <a:endParaRPr lang="en-US" sz="6000" dirty="0"/>
          </a:p>
        </p:txBody>
      </p:sp>
      <p:sp>
        <p:nvSpPr>
          <p:cNvPr id="6" name="Text 3"/>
          <p:cNvSpPr/>
          <p:nvPr/>
        </p:nvSpPr>
        <p:spPr>
          <a:xfrm>
            <a:off x="640080" y="3246120"/>
            <a:ext cx="10241280" cy="64008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Real-Time AI Electricity Demand Forecasting for Grid Energy Efficiency</a:t>
            </a:r>
            <a:endParaRPr lang="en-US" sz="2000" dirty="0"/>
          </a:p>
        </p:txBody>
      </p:sp>
      <p:sp>
        <p:nvSpPr>
          <p:cNvPr id="7" name="Text 4"/>
          <p:cNvSpPr/>
          <p:nvPr/>
        </p:nvSpPr>
        <p:spPr>
          <a:xfrm>
            <a:off x="640080" y="3886200"/>
            <a:ext cx="10058400" cy="457200"/>
          </a:xfrm>
          <a:prstGeom prst="rect">
            <a:avLst/>
          </a:prstGeom>
          <a:noFill/>
          <a:ln/>
        </p:spPr>
        <p:txBody>
          <a:bodyPr wrap="square" lIns="0" tIns="0" rIns="0" bIns="0" rtlCol="0" anchor="ctr"/>
          <a:lstStyle/>
          <a:p>
            <a:pPr indent="0" marL="0">
              <a:buNone/>
            </a:pPr>
            <a:r>
              <a:rPr lang="en-US" sz="1500" i="1" dirty="0">
                <a:solidFill>
                  <a:srgbClr val="FFB627"/>
                </a:solidFill>
                <a:latin typeface="Calibri" pitchFamily="34" charset="0"/>
                <a:ea typeface="Calibri" pitchFamily="34" charset="-122"/>
                <a:cs typeface="Calibri" pitchFamily="34" charset="-120"/>
              </a:rPr>
              <a:t>Turning five-minute grid data into a smarter, leaner power system</a:t>
            </a:r>
            <a:endParaRPr lang="en-US" sz="1500" dirty="0"/>
          </a:p>
        </p:txBody>
      </p:sp>
      <p:sp>
        <p:nvSpPr>
          <p:cNvPr id="8" name="Shape 5"/>
          <p:cNvSpPr/>
          <p:nvPr/>
        </p:nvSpPr>
        <p:spPr>
          <a:xfrm>
            <a:off x="640080" y="5897880"/>
            <a:ext cx="10881360" cy="0"/>
          </a:xfrm>
          <a:prstGeom prst="line">
            <a:avLst/>
          </a:prstGeom>
          <a:noFill/>
          <a:ln w="12700">
            <a:solidFill>
              <a:srgbClr val="2A4066"/>
            </a:solidFill>
            <a:prstDash val="solid"/>
          </a:ln>
        </p:spPr>
      </p:sp>
      <p:sp>
        <p:nvSpPr>
          <p:cNvPr id="9" name="Text 6"/>
          <p:cNvSpPr/>
          <p:nvPr/>
        </p:nvSpPr>
        <p:spPr>
          <a:xfrm>
            <a:off x="640080" y="6080760"/>
            <a:ext cx="10972800" cy="36576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Reference No. 26INC06MH043254</a:t>
            </a:r>
            <a:pPr indent="0" marL="0">
              <a:buNone/>
            </a:pPr>
            <a:r>
              <a:rPr lang="en-US" sz="1200" dirty="0">
                <a:solidFill>
                  <a:srgbClr val="A9BBDC"/>
                </a:solidFill>
                <a:latin typeface="Calibri" pitchFamily="34" charset="0"/>
                <a:ea typeface="Calibri" pitchFamily="34" charset="-122"/>
                <a:cs typeface="Calibri" pitchFamily="34" charset="-120"/>
              </a:rPr>
              <a:t>   |   CSMSS Chh. Shahu College of Engineering, Aurangabad</a:t>
            </a:r>
            <a:pPr indent="0" marL="0">
              <a:buNone/>
            </a:pPr>
            <a:r>
              <a:rPr lang="en-US" sz="1200" dirty="0">
                <a:solidFill>
                  <a:srgbClr val="A9BBDC"/>
                </a:solidFill>
                <a:latin typeface="Calibri" pitchFamily="34" charset="0"/>
                <a:ea typeface="Calibri" pitchFamily="34" charset="-122"/>
                <a:cs typeface="Calibri" pitchFamily="34" charset="-120"/>
              </a:rPr>
              <a:t>   |   Maharashtra</a:t>
            </a:r>
            <a:endParaRPr lang="en-US" sz="1200" dirty="0"/>
          </a:p>
        </p:txBody>
      </p:sp>
      <p:sp>
        <p:nvSpPr>
          <p:cNvPr id="11" name="Text 7"/>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548640" y="685800"/>
            <a:ext cx="1051560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India's Grid Runs on Guesswork</a:t>
            </a:r>
            <a:endParaRPr lang="en-US" sz="3200" dirty="0"/>
          </a:p>
        </p:txBody>
      </p:sp>
      <p:sp>
        <p:nvSpPr>
          <p:cNvPr id="4" name="Shape 2"/>
          <p:cNvSpPr/>
          <p:nvPr/>
        </p:nvSpPr>
        <p:spPr>
          <a:xfrm>
            <a:off x="548640" y="1783080"/>
            <a:ext cx="502920" cy="502920"/>
          </a:xfrm>
          <a:prstGeom prst="ellipse">
            <a:avLst/>
          </a:prstGeom>
          <a:solidFill>
            <a:srgbClr val="0B1F3A"/>
          </a:solidFill>
          <a:ln/>
        </p:spPr>
      </p:sp>
      <p:pic>
        <p:nvPicPr>
          <p:cNvPr id="5" name="Image 0" descr="C:\Users\rupes\AppData\Local\Temp\claude\E--Projects-Gridalytics\b1299509-94b8-4995-bcba-996ea2dce8b4\scratchpad\icons\warning.png">    </p:cNvPr>
          <p:cNvPicPr>
            <a:picLocks noChangeAspect="1"/>
          </p:cNvPicPr>
          <p:nvPr/>
        </p:nvPicPr>
        <p:blipFill>
          <a:blip r:embed="rId1"/>
          <a:stretch>
            <a:fillRect/>
          </a:stretch>
        </p:blipFill>
        <p:spPr>
          <a:xfrm>
            <a:off x="674370" y="1908810"/>
            <a:ext cx="251460" cy="251460"/>
          </a:xfrm>
          <a:prstGeom prst="rect">
            <a:avLst/>
          </a:prstGeom>
        </p:spPr>
      </p:pic>
      <p:sp>
        <p:nvSpPr>
          <p:cNvPr id="6" name="Text 3"/>
          <p:cNvSpPr/>
          <p:nvPr/>
        </p:nvSpPr>
        <p:spPr>
          <a:xfrm>
            <a:off x="1234440" y="1737360"/>
            <a:ext cx="5943600" cy="1051560"/>
          </a:xfrm>
          <a:prstGeom prst="rect">
            <a:avLst/>
          </a:prstGeom>
          <a:noFill/>
          <a:ln/>
        </p:spPr>
        <p:txBody>
          <a:bodyPr wrap="square" lIns="0" tIns="0" rIns="0" bIns="0" rtlCol="0" anchor="t"/>
          <a:lstStyle/>
          <a:p>
            <a:pPr indent="0" marL="0">
              <a:lnSpc>
                <a:spcPct val="115000"/>
              </a:lnSpc>
              <a:buNone/>
            </a:pPr>
            <a:r>
              <a:rPr lang="en-US" sz="1450" dirty="0">
                <a:solidFill>
                  <a:srgbClr val="17233F"/>
                </a:solidFill>
                <a:latin typeface="Calibri" pitchFamily="34" charset="0"/>
                <a:ea typeface="Calibri" pitchFamily="34" charset="-122"/>
                <a:cs typeface="Calibri" pitchFamily="34" charset="-120"/>
              </a:rPr>
              <a:t>Peak demand crossed roughly 250 GW in 2024 — and keeps climbing, driven by AI data centres, EVs, industrial growth and rapid renewable integration.</a:t>
            </a:r>
            <a:endParaRPr lang="en-US" sz="1450" dirty="0"/>
          </a:p>
        </p:txBody>
      </p:sp>
      <p:sp>
        <p:nvSpPr>
          <p:cNvPr id="7" name="Shape 4"/>
          <p:cNvSpPr/>
          <p:nvPr/>
        </p:nvSpPr>
        <p:spPr>
          <a:xfrm>
            <a:off x="548640" y="3200400"/>
            <a:ext cx="502920" cy="502920"/>
          </a:xfrm>
          <a:prstGeom prst="ellipse">
            <a:avLst/>
          </a:prstGeom>
          <a:solidFill>
            <a:srgbClr val="0B1F3A"/>
          </a:solidFill>
          <a:ln/>
        </p:spPr>
      </p:sp>
      <p:pic>
        <p:nvPicPr>
          <p:cNvPr id="8" name="Image 1" descr="C:\Users\rupes\AppData\Local\Temp\claude\E--Projects-Gridalytics\b1299509-94b8-4995-bcba-996ea2dce8b4\scratchpad\icons\warning.png">    </p:cNvPr>
          <p:cNvPicPr>
            <a:picLocks noChangeAspect="1"/>
          </p:cNvPicPr>
          <p:nvPr/>
        </p:nvPicPr>
        <p:blipFill>
          <a:blip r:embed="rId2"/>
          <a:stretch>
            <a:fillRect/>
          </a:stretch>
        </p:blipFill>
        <p:spPr>
          <a:xfrm>
            <a:off x="674370" y="3326130"/>
            <a:ext cx="251460" cy="251460"/>
          </a:xfrm>
          <a:prstGeom prst="rect">
            <a:avLst/>
          </a:prstGeom>
        </p:spPr>
      </p:pic>
      <p:sp>
        <p:nvSpPr>
          <p:cNvPr id="9" name="Text 5"/>
          <p:cNvSpPr/>
          <p:nvPr/>
        </p:nvSpPr>
        <p:spPr>
          <a:xfrm>
            <a:off x="1234440" y="3154680"/>
            <a:ext cx="5943600" cy="1051560"/>
          </a:xfrm>
          <a:prstGeom prst="rect">
            <a:avLst/>
          </a:prstGeom>
          <a:noFill/>
          <a:ln/>
        </p:spPr>
        <p:txBody>
          <a:bodyPr wrap="square" lIns="0" tIns="0" rIns="0" bIns="0" rtlCol="0" anchor="t"/>
          <a:lstStyle/>
          <a:p>
            <a:pPr indent="0" marL="0">
              <a:lnSpc>
                <a:spcPct val="115000"/>
              </a:lnSpc>
              <a:buNone/>
            </a:pPr>
            <a:r>
              <a:rPr lang="en-US" sz="1450" dirty="0">
                <a:solidFill>
                  <a:srgbClr val="17233F"/>
                </a:solidFill>
                <a:latin typeface="Calibri" pitchFamily="34" charset="0"/>
                <a:ea typeface="Calibri" pitchFamily="34" charset="-122"/>
                <a:cs typeface="Calibri" pitchFamily="34" charset="-120"/>
              </a:rPr>
              <a:t>Utilities mostly forecast only coarse daily load. Energy is actually wasted in the intraday ramps and peaks that coarse forecasts can't see.</a:t>
            </a:r>
            <a:endParaRPr lang="en-US" sz="1450" dirty="0"/>
          </a:p>
        </p:txBody>
      </p:sp>
      <p:sp>
        <p:nvSpPr>
          <p:cNvPr id="10" name="Shape 6"/>
          <p:cNvSpPr/>
          <p:nvPr/>
        </p:nvSpPr>
        <p:spPr>
          <a:xfrm>
            <a:off x="548640" y="4617720"/>
            <a:ext cx="502920" cy="502920"/>
          </a:xfrm>
          <a:prstGeom prst="ellipse">
            <a:avLst/>
          </a:prstGeom>
          <a:solidFill>
            <a:srgbClr val="0B1F3A"/>
          </a:solidFill>
          <a:ln/>
        </p:spPr>
      </p:sp>
      <p:pic>
        <p:nvPicPr>
          <p:cNvPr id="11" name="Image 2" descr="C:\Users\rupes\AppData\Local\Temp\claude\E--Projects-Gridalytics\b1299509-94b8-4995-bcba-996ea2dce8b4\scratchpad\icons\warning.png">    </p:cNvPr>
          <p:cNvPicPr>
            <a:picLocks noChangeAspect="1"/>
          </p:cNvPicPr>
          <p:nvPr/>
        </p:nvPicPr>
        <p:blipFill>
          <a:blip r:embed="rId3"/>
          <a:stretch>
            <a:fillRect/>
          </a:stretch>
        </p:blipFill>
        <p:spPr>
          <a:xfrm>
            <a:off x="674370" y="4743450"/>
            <a:ext cx="251460" cy="251460"/>
          </a:xfrm>
          <a:prstGeom prst="rect">
            <a:avLst/>
          </a:prstGeom>
        </p:spPr>
      </p:pic>
      <p:sp>
        <p:nvSpPr>
          <p:cNvPr id="12" name="Text 7"/>
          <p:cNvSpPr/>
          <p:nvPr/>
        </p:nvSpPr>
        <p:spPr>
          <a:xfrm>
            <a:off x="1234440" y="4572000"/>
            <a:ext cx="5943600" cy="1051560"/>
          </a:xfrm>
          <a:prstGeom prst="rect">
            <a:avLst/>
          </a:prstGeom>
          <a:noFill/>
          <a:ln/>
        </p:spPr>
        <p:txBody>
          <a:bodyPr wrap="square" lIns="0" tIns="0" rIns="0" bIns="0" rtlCol="0" anchor="t"/>
          <a:lstStyle/>
          <a:p>
            <a:pPr indent="0" marL="0">
              <a:lnSpc>
                <a:spcPct val="115000"/>
              </a:lnSpc>
              <a:buNone/>
            </a:pPr>
            <a:r>
              <a:rPr lang="en-US" sz="1450" dirty="0">
                <a:solidFill>
                  <a:srgbClr val="17233F"/>
                </a:solidFill>
                <a:latin typeface="Calibri" pitchFamily="34" charset="0"/>
                <a:ea typeface="Calibri" pitchFamily="34" charset="-122"/>
                <a:cs typeface="Calibri" pitchFamily="34" charset="-120"/>
              </a:rPr>
              <a:t>The result: over-generation and fuel waste, costly spinning reserves, reliance on polluting peaker plants, over/under-drawal penalties, transmission losses, and poor renewable integration.</a:t>
            </a:r>
            <a:endParaRPr lang="en-US" sz="1450" dirty="0"/>
          </a:p>
        </p:txBody>
      </p:sp>
      <p:sp>
        <p:nvSpPr>
          <p:cNvPr id="13" name="Shape 8"/>
          <p:cNvSpPr/>
          <p:nvPr/>
        </p:nvSpPr>
        <p:spPr>
          <a:xfrm>
            <a:off x="7452360" y="1783080"/>
            <a:ext cx="4160520" cy="4160520"/>
          </a:xfrm>
          <a:prstGeom prst="roundRect">
            <a:avLst>
              <a:gd name="adj" fmla="val 2637"/>
            </a:avLst>
          </a:prstGeom>
          <a:solidFill>
            <a:srgbClr val="0B1F3A"/>
          </a:solidFill>
          <a:ln/>
          <a:effectLst>
            <a:outerShdw sx="100000" sy="100000" kx="0" ky="0" algn="bl" rotWithShape="0" blurRad="127000" dist="38100" dir="5400000">
              <a:srgbClr val="000000">
                <a:alpha val="18000"/>
              </a:srgbClr>
            </a:outerShdw>
          </a:effectLst>
        </p:spPr>
      </p:sp>
      <p:sp>
        <p:nvSpPr>
          <p:cNvPr id="14" name="Text 9"/>
          <p:cNvSpPr/>
          <p:nvPr/>
        </p:nvSpPr>
        <p:spPr>
          <a:xfrm>
            <a:off x="7452360" y="2331720"/>
            <a:ext cx="4160520" cy="1005840"/>
          </a:xfrm>
          <a:prstGeom prst="rect">
            <a:avLst/>
          </a:prstGeom>
          <a:noFill/>
          <a:ln/>
        </p:spPr>
        <p:txBody>
          <a:bodyPr wrap="square" lIns="0" tIns="0" rIns="0" bIns="0" rtlCol="0" anchor="ctr"/>
          <a:lstStyle/>
          <a:p>
            <a:pPr algn="ctr" indent="0" marL="0">
              <a:buNone/>
            </a:pPr>
            <a:r>
              <a:rPr lang="en-US" sz="5400" b="1" dirty="0">
                <a:solidFill>
                  <a:srgbClr val="FFB627"/>
                </a:solidFill>
                <a:latin typeface="Cambria" pitchFamily="34" charset="0"/>
                <a:ea typeface="Cambria" pitchFamily="34" charset="-122"/>
                <a:cs typeface="Cambria" pitchFamily="34" charset="-120"/>
              </a:rPr>
              <a:t>250+</a:t>
            </a:r>
            <a:endParaRPr lang="en-US" sz="5400" dirty="0"/>
          </a:p>
        </p:txBody>
      </p:sp>
      <p:sp>
        <p:nvSpPr>
          <p:cNvPr id="15" name="Text 10"/>
          <p:cNvSpPr/>
          <p:nvPr/>
        </p:nvSpPr>
        <p:spPr>
          <a:xfrm>
            <a:off x="7452360" y="3246120"/>
            <a:ext cx="416052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GW</a:t>
            </a:r>
            <a:endParaRPr lang="en-US" sz="1800" dirty="0"/>
          </a:p>
        </p:txBody>
      </p:sp>
      <p:sp>
        <p:nvSpPr>
          <p:cNvPr id="16" name="Text 11"/>
          <p:cNvSpPr/>
          <p:nvPr/>
        </p:nvSpPr>
        <p:spPr>
          <a:xfrm>
            <a:off x="7909560" y="3840480"/>
            <a:ext cx="3246120" cy="1371600"/>
          </a:xfrm>
          <a:prstGeom prst="rect">
            <a:avLst/>
          </a:prstGeom>
          <a:noFill/>
          <a:ln/>
        </p:spPr>
        <p:txBody>
          <a:bodyPr wrap="square" lIns="0" tIns="0" rIns="0" bIns="0" rtlCol="0" anchor="t"/>
          <a:lstStyle/>
          <a:p>
            <a:pPr algn="ctr" indent="0" marL="0">
              <a:buNone/>
            </a:pPr>
            <a:r>
              <a:rPr lang="en-US" sz="1300" dirty="0">
                <a:solidFill>
                  <a:srgbClr val="CADCFC"/>
                </a:solidFill>
                <a:latin typeface="Calibri" pitchFamily="34" charset="0"/>
                <a:ea typeface="Calibri" pitchFamily="34" charset="-122"/>
                <a:cs typeface="Calibri" pitchFamily="34" charset="-120"/>
              </a:rPr>
              <a:t>India's peak electricity demand in 2024 — rising fast as AI, EVs and industry scale up</a:t>
            </a:r>
            <a:endParaRPr lang="en-US" sz="1300" dirty="0"/>
          </a:p>
        </p:txBody>
      </p:sp>
      <p:sp>
        <p:nvSpPr>
          <p:cNvPr id="17" name="Shape 12"/>
          <p:cNvSpPr/>
          <p:nvPr/>
        </p:nvSpPr>
        <p:spPr>
          <a:xfrm>
            <a:off x="7909560" y="5074920"/>
            <a:ext cx="3246120" cy="0"/>
          </a:xfrm>
          <a:prstGeom prst="line">
            <a:avLst/>
          </a:prstGeom>
          <a:noFill/>
          <a:ln w="12700">
            <a:solidFill>
              <a:srgbClr val="2A4066"/>
            </a:solidFill>
            <a:prstDash val="solid"/>
          </a:ln>
        </p:spPr>
      </p:sp>
      <p:sp>
        <p:nvSpPr>
          <p:cNvPr id="18" name="Text 13"/>
          <p:cNvSpPr/>
          <p:nvPr/>
        </p:nvSpPr>
        <p:spPr>
          <a:xfrm>
            <a:off x="7909560" y="5212080"/>
            <a:ext cx="3246120" cy="640080"/>
          </a:xfrm>
          <a:prstGeom prst="rect">
            <a:avLst/>
          </a:prstGeom>
          <a:noFill/>
          <a:ln/>
        </p:spPr>
        <p:txBody>
          <a:bodyPr wrap="square" lIns="0" tIns="0" rIns="0" bIns="0" rtlCol="0" anchor="ctr"/>
          <a:lstStyle/>
          <a:p>
            <a:pPr algn="ctr" indent="0" marL="0">
              <a:buNone/>
            </a:pPr>
            <a:r>
              <a:rPr lang="en-US" sz="1200" i="1" dirty="0">
                <a:solidFill>
                  <a:srgbClr val="FFB627"/>
                </a:solidFill>
                <a:latin typeface="Calibri" pitchFamily="34" charset="0"/>
                <a:ea typeface="Calibri" pitchFamily="34" charset="-122"/>
                <a:cs typeface="Calibri" pitchFamily="34" charset="-120"/>
              </a:rPr>
              <a:t>More volatile demand = forecasting becomes mission-critical, not optional.</a:t>
            </a:r>
            <a:endParaRPr lang="en-US" sz="1200" dirty="0"/>
          </a:p>
        </p:txBody>
      </p:sp>
      <p:sp>
        <p:nvSpPr>
          <p:cNvPr id="20" name="Text 14"/>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THE SOLUTION</a:t>
            </a:r>
            <a:endParaRPr lang="en-US" sz="1200" dirty="0"/>
          </a:p>
        </p:txBody>
      </p:sp>
      <p:sp>
        <p:nvSpPr>
          <p:cNvPr id="3" name="Text 1"/>
          <p:cNvSpPr/>
          <p:nvPr/>
        </p:nvSpPr>
        <p:spPr>
          <a:xfrm>
            <a:off x="548640" y="685800"/>
            <a:ext cx="11155680" cy="731520"/>
          </a:xfrm>
          <a:prstGeom prst="rect">
            <a:avLst/>
          </a:prstGeom>
          <a:noFill/>
          <a:ln/>
        </p:spPr>
        <p:txBody>
          <a:bodyPr wrap="square" lIns="0" tIns="0" rIns="0" bIns="0" rtlCol="0" anchor="ctr"/>
          <a:lstStyle/>
          <a:p>
            <a:pPr indent="0" marL="0">
              <a:buNone/>
            </a:pPr>
            <a:r>
              <a:rPr lang="en-US" sz="2800" b="1" dirty="0">
                <a:solidFill>
                  <a:srgbClr val="17233F"/>
                </a:solidFill>
                <a:latin typeface="Cambria" pitchFamily="34" charset="0"/>
                <a:ea typeface="Cambria" pitchFamily="34" charset="-122"/>
                <a:cs typeface="Cambria" pitchFamily="34" charset="-120"/>
              </a:rPr>
              <a:t>Gridalytics: AI-as-a-Service for Grid Demand Forecasting</a:t>
            </a:r>
            <a:endParaRPr lang="en-US" sz="2800" dirty="0"/>
          </a:p>
        </p:txBody>
      </p:sp>
      <p:sp>
        <p:nvSpPr>
          <p:cNvPr id="4" name="Text 2"/>
          <p:cNvSpPr/>
          <p:nvPr/>
        </p:nvSpPr>
        <p:spPr>
          <a:xfrm>
            <a:off x="548640" y="1417320"/>
            <a:ext cx="10789920" cy="685800"/>
          </a:xfrm>
          <a:prstGeom prst="rect">
            <a:avLst/>
          </a:prstGeom>
          <a:noFill/>
          <a:ln/>
        </p:spPr>
        <p:txBody>
          <a:bodyPr wrap="square" lIns="0" tIns="0" rIns="0" bIns="0" rtlCol="0" anchor="ctr"/>
          <a:lstStyle/>
          <a:p>
            <a:pPr indent="0" marL="0">
              <a:buNone/>
            </a:pPr>
            <a:r>
              <a:rPr lang="en-US" sz="1500" dirty="0">
                <a:solidFill>
                  <a:srgbClr val="5B6B82"/>
                </a:solidFill>
                <a:latin typeface="Calibri" pitchFamily="34" charset="0"/>
                <a:ea typeface="Calibri" pitchFamily="34" charset="-122"/>
                <a:cs typeface="Calibri" pitchFamily="34" charset="-120"/>
              </a:rPr>
              <a:t>A live, self-learning platform that turns real-time grid data into highly accurate electricity demand forecasts — so operators can run the grid more efficiently, not just monitor it.</a:t>
            </a:r>
            <a:endParaRPr lang="en-US" sz="1500" dirty="0"/>
          </a:p>
        </p:txBody>
      </p:sp>
      <p:sp>
        <p:nvSpPr>
          <p:cNvPr id="5" name="Shape 3"/>
          <p:cNvSpPr/>
          <p:nvPr/>
        </p:nvSpPr>
        <p:spPr>
          <a:xfrm>
            <a:off x="548640" y="2514600"/>
            <a:ext cx="2514600" cy="3246120"/>
          </a:xfrm>
          <a:prstGeom prst="roundRect">
            <a:avLst>
              <a:gd name="adj" fmla="val 3636"/>
            </a:avLst>
          </a:prstGeom>
          <a:solidFill>
            <a:srgbClr val="F3F6FA"/>
          </a:solidFill>
          <a:ln/>
        </p:spPr>
      </p:sp>
      <p:sp>
        <p:nvSpPr>
          <p:cNvPr id="6" name="Shape 4"/>
          <p:cNvSpPr/>
          <p:nvPr/>
        </p:nvSpPr>
        <p:spPr>
          <a:xfrm>
            <a:off x="1394460" y="2834640"/>
            <a:ext cx="822960" cy="822960"/>
          </a:xfrm>
          <a:prstGeom prst="ellipse">
            <a:avLst/>
          </a:prstGeom>
          <a:solidFill>
            <a:srgbClr val="0B1F3A"/>
          </a:solidFill>
          <a:ln/>
        </p:spPr>
      </p:sp>
      <p:pic>
        <p:nvPicPr>
          <p:cNvPr id="7" name="Image 0" descr="C:\Users\rupes\AppData\Local\Temp\claude\E--Projects-Gridalytics\b1299509-94b8-4995-bcba-996ea2dce8b4\scratchpad\icons\database.png">    </p:cNvPr>
          <p:cNvPicPr>
            <a:picLocks noChangeAspect="1"/>
          </p:cNvPicPr>
          <p:nvPr/>
        </p:nvPicPr>
        <p:blipFill>
          <a:blip r:embed="rId1"/>
          <a:stretch>
            <a:fillRect/>
          </a:stretch>
        </p:blipFill>
        <p:spPr>
          <a:xfrm>
            <a:off x="1600200" y="3040380"/>
            <a:ext cx="411480" cy="411480"/>
          </a:xfrm>
          <a:prstGeom prst="rect">
            <a:avLst/>
          </a:prstGeom>
        </p:spPr>
      </p:pic>
      <p:sp>
        <p:nvSpPr>
          <p:cNvPr id="8" name="Text 5"/>
          <p:cNvSpPr/>
          <p:nvPr/>
        </p:nvSpPr>
        <p:spPr>
          <a:xfrm>
            <a:off x="2560320" y="2651760"/>
            <a:ext cx="365760" cy="365760"/>
          </a:xfrm>
          <a:prstGeom prst="rect">
            <a:avLst/>
          </a:prstGeom>
          <a:noFill/>
          <a:ln/>
        </p:spPr>
        <p:txBody>
          <a:bodyPr wrap="square" lIns="0" tIns="0" rIns="0" bIns="0" rtlCol="0" anchor="ctr"/>
          <a:lstStyle/>
          <a:p>
            <a:pPr algn="ctr" indent="0" marL="0">
              <a:buNone/>
            </a:pPr>
            <a:r>
              <a:rPr lang="en-US" sz="1400" b="1" dirty="0">
                <a:solidFill>
                  <a:srgbClr val="FFB627"/>
                </a:solidFill>
                <a:latin typeface="Cambria" pitchFamily="34" charset="0"/>
                <a:ea typeface="Cambria" pitchFamily="34" charset="-122"/>
                <a:cs typeface="Cambria" pitchFamily="34" charset="-120"/>
              </a:rPr>
              <a:t>1</a:t>
            </a:r>
            <a:endParaRPr lang="en-US" sz="1400" dirty="0"/>
          </a:p>
        </p:txBody>
      </p:sp>
      <p:sp>
        <p:nvSpPr>
          <p:cNvPr id="9" name="Text 6"/>
          <p:cNvSpPr/>
          <p:nvPr/>
        </p:nvSpPr>
        <p:spPr>
          <a:xfrm>
            <a:off x="685800" y="3794760"/>
            <a:ext cx="2240280" cy="365760"/>
          </a:xfrm>
          <a:prstGeom prst="rect">
            <a:avLst/>
          </a:prstGeom>
          <a:noFill/>
          <a:ln/>
        </p:spPr>
        <p:txBody>
          <a:bodyPr wrap="square" lIns="0" tIns="0" rIns="0" bIns="0" rtlCol="0" anchor="ctr"/>
          <a:lstStyle/>
          <a:p>
            <a:pPr algn="ctr" indent="0" marL="0">
              <a:buNone/>
            </a:pPr>
            <a:r>
              <a:rPr lang="en-US" sz="1700" b="1" dirty="0">
                <a:solidFill>
                  <a:srgbClr val="17233F"/>
                </a:solidFill>
                <a:latin typeface="Cambria" pitchFamily="34" charset="0"/>
                <a:ea typeface="Cambria" pitchFamily="34" charset="-122"/>
                <a:cs typeface="Cambria" pitchFamily="34" charset="-120"/>
              </a:rPr>
              <a:t>Ingest</a:t>
            </a:r>
            <a:endParaRPr lang="en-US" sz="1700" dirty="0"/>
          </a:p>
        </p:txBody>
      </p:sp>
      <p:sp>
        <p:nvSpPr>
          <p:cNvPr id="10" name="Text 7"/>
          <p:cNvSpPr/>
          <p:nvPr/>
        </p:nvSpPr>
        <p:spPr>
          <a:xfrm>
            <a:off x="731520" y="4206240"/>
            <a:ext cx="2148840" cy="1417320"/>
          </a:xfrm>
          <a:prstGeom prst="rect">
            <a:avLst/>
          </a:prstGeom>
          <a:noFill/>
          <a:ln/>
        </p:spPr>
        <p:txBody>
          <a:bodyPr wrap="square" lIns="0" tIns="0" rIns="0" bIns="0" rtlCol="0" anchor="t"/>
          <a:lstStyle/>
          <a:p>
            <a:pPr algn="ctr" indent="0" marL="0">
              <a:buNone/>
            </a:pPr>
            <a:r>
              <a:rPr lang="en-US" sz="1200" dirty="0">
                <a:solidFill>
                  <a:srgbClr val="5B6B82"/>
                </a:solidFill>
                <a:latin typeface="Calibri" pitchFamily="34" charset="0"/>
                <a:ea typeface="Calibri" pitchFamily="34" charset="-122"/>
                <a:cs typeface="Calibri" pitchFamily="34" charset="-120"/>
              </a:rPr>
              <a:t>Live SCADA demand, weather, air quality and calendar/festival data</a:t>
            </a:r>
            <a:endParaRPr lang="en-US" sz="1200" dirty="0"/>
          </a:p>
        </p:txBody>
      </p:sp>
      <p:sp>
        <p:nvSpPr>
          <p:cNvPr id="11" name="Text 8"/>
          <p:cNvSpPr/>
          <p:nvPr/>
        </p:nvSpPr>
        <p:spPr>
          <a:xfrm>
            <a:off x="3072384" y="3817620"/>
            <a:ext cx="237744" cy="640080"/>
          </a:xfrm>
          <a:prstGeom prst="rect">
            <a:avLst/>
          </a:prstGeom>
          <a:noFill/>
          <a:ln/>
        </p:spPr>
        <p:txBody>
          <a:bodyPr wrap="square" lIns="0" tIns="0" rIns="0" bIns="0" rtlCol="0" anchor="ctr"/>
          <a:lstStyle/>
          <a:p>
            <a:pPr algn="ctr" indent="0" marL="0">
              <a:buNone/>
            </a:pPr>
            <a:r>
              <a:rPr lang="en-US" sz="2000" b="1" dirty="0">
                <a:solidFill>
                  <a:srgbClr val="1C93A6"/>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3319272" y="2514600"/>
            <a:ext cx="2514600" cy="3246120"/>
          </a:xfrm>
          <a:prstGeom prst="roundRect">
            <a:avLst>
              <a:gd name="adj" fmla="val 3636"/>
            </a:avLst>
          </a:prstGeom>
          <a:solidFill>
            <a:srgbClr val="F3F6FA"/>
          </a:solidFill>
          <a:ln/>
        </p:spPr>
      </p:sp>
      <p:sp>
        <p:nvSpPr>
          <p:cNvPr id="13" name="Shape 10"/>
          <p:cNvSpPr/>
          <p:nvPr/>
        </p:nvSpPr>
        <p:spPr>
          <a:xfrm>
            <a:off x="4165092" y="2834640"/>
            <a:ext cx="822960" cy="822960"/>
          </a:xfrm>
          <a:prstGeom prst="ellipse">
            <a:avLst/>
          </a:prstGeom>
          <a:solidFill>
            <a:srgbClr val="0B1F3A"/>
          </a:solidFill>
          <a:ln/>
        </p:spPr>
      </p:sp>
      <p:pic>
        <p:nvPicPr>
          <p:cNvPr id="14" name="Image 1" descr="C:\Users\rupes\AppData\Local\Temp\claude\E--Projects-Gridalytics\b1299509-94b8-4995-bcba-996ea2dce8b4\scratchpad\icons\brain.png">    </p:cNvPr>
          <p:cNvPicPr>
            <a:picLocks noChangeAspect="1"/>
          </p:cNvPicPr>
          <p:nvPr/>
        </p:nvPicPr>
        <p:blipFill>
          <a:blip r:embed="rId2"/>
          <a:stretch>
            <a:fillRect/>
          </a:stretch>
        </p:blipFill>
        <p:spPr>
          <a:xfrm>
            <a:off x="4370832" y="3040380"/>
            <a:ext cx="411480" cy="411480"/>
          </a:xfrm>
          <a:prstGeom prst="rect">
            <a:avLst/>
          </a:prstGeom>
        </p:spPr>
      </p:pic>
      <p:sp>
        <p:nvSpPr>
          <p:cNvPr id="15" name="Text 11"/>
          <p:cNvSpPr/>
          <p:nvPr/>
        </p:nvSpPr>
        <p:spPr>
          <a:xfrm>
            <a:off x="5330952" y="2651760"/>
            <a:ext cx="365760" cy="365760"/>
          </a:xfrm>
          <a:prstGeom prst="rect">
            <a:avLst/>
          </a:prstGeom>
          <a:noFill/>
          <a:ln/>
        </p:spPr>
        <p:txBody>
          <a:bodyPr wrap="square" lIns="0" tIns="0" rIns="0" bIns="0" rtlCol="0" anchor="ctr"/>
          <a:lstStyle/>
          <a:p>
            <a:pPr algn="ctr" indent="0" marL="0">
              <a:buNone/>
            </a:pPr>
            <a:r>
              <a:rPr lang="en-US" sz="1400" b="1" dirty="0">
                <a:solidFill>
                  <a:srgbClr val="FFB627"/>
                </a:solidFill>
                <a:latin typeface="Cambria" pitchFamily="34" charset="0"/>
                <a:ea typeface="Cambria" pitchFamily="34" charset="-122"/>
                <a:cs typeface="Cambria" pitchFamily="34" charset="-120"/>
              </a:rPr>
              <a:t>2</a:t>
            </a:r>
            <a:endParaRPr lang="en-US" sz="1400" dirty="0"/>
          </a:p>
        </p:txBody>
      </p:sp>
      <p:sp>
        <p:nvSpPr>
          <p:cNvPr id="16" name="Text 12"/>
          <p:cNvSpPr/>
          <p:nvPr/>
        </p:nvSpPr>
        <p:spPr>
          <a:xfrm>
            <a:off x="3456432" y="3794760"/>
            <a:ext cx="2240280" cy="365760"/>
          </a:xfrm>
          <a:prstGeom prst="rect">
            <a:avLst/>
          </a:prstGeom>
          <a:noFill/>
          <a:ln/>
        </p:spPr>
        <p:txBody>
          <a:bodyPr wrap="square" lIns="0" tIns="0" rIns="0" bIns="0" rtlCol="0" anchor="ctr"/>
          <a:lstStyle/>
          <a:p>
            <a:pPr algn="ctr" indent="0" marL="0">
              <a:buNone/>
            </a:pPr>
            <a:r>
              <a:rPr lang="en-US" sz="1700" b="1" dirty="0">
                <a:solidFill>
                  <a:srgbClr val="17233F"/>
                </a:solidFill>
                <a:latin typeface="Cambria" pitchFamily="34" charset="0"/>
                <a:ea typeface="Cambria" pitchFamily="34" charset="-122"/>
                <a:cs typeface="Cambria" pitchFamily="34" charset="-120"/>
              </a:rPr>
              <a:t>Engineer</a:t>
            </a:r>
            <a:endParaRPr lang="en-US" sz="1700" dirty="0"/>
          </a:p>
        </p:txBody>
      </p:sp>
      <p:sp>
        <p:nvSpPr>
          <p:cNvPr id="17" name="Text 13"/>
          <p:cNvSpPr/>
          <p:nvPr/>
        </p:nvSpPr>
        <p:spPr>
          <a:xfrm>
            <a:off x="3502152" y="4206240"/>
            <a:ext cx="2148840" cy="1417320"/>
          </a:xfrm>
          <a:prstGeom prst="rect">
            <a:avLst/>
          </a:prstGeom>
          <a:noFill/>
          <a:ln/>
        </p:spPr>
        <p:txBody>
          <a:bodyPr wrap="square" lIns="0" tIns="0" rIns="0" bIns="0" rtlCol="0" anchor="t"/>
          <a:lstStyle/>
          <a:p>
            <a:pPr algn="ctr" indent="0" marL="0">
              <a:buNone/>
            </a:pPr>
            <a:r>
              <a:rPr lang="en-US" sz="1200" dirty="0">
                <a:solidFill>
                  <a:srgbClr val="5B6B82"/>
                </a:solidFill>
                <a:latin typeface="Calibri" pitchFamily="34" charset="0"/>
                <a:ea typeface="Calibri" pitchFamily="34" charset="-122"/>
                <a:cs typeface="Calibri" pitchFamily="34" charset="-120"/>
              </a:rPr>
              <a:t>93 engineered features — lags, rolling stats, Fourier terms, calendar effects</a:t>
            </a:r>
            <a:endParaRPr lang="en-US" sz="1200" dirty="0"/>
          </a:p>
        </p:txBody>
      </p:sp>
      <p:sp>
        <p:nvSpPr>
          <p:cNvPr id="18" name="Text 14"/>
          <p:cNvSpPr/>
          <p:nvPr/>
        </p:nvSpPr>
        <p:spPr>
          <a:xfrm>
            <a:off x="5843016" y="3817620"/>
            <a:ext cx="237744" cy="640080"/>
          </a:xfrm>
          <a:prstGeom prst="rect">
            <a:avLst/>
          </a:prstGeom>
          <a:noFill/>
          <a:ln/>
        </p:spPr>
        <p:txBody>
          <a:bodyPr wrap="square" lIns="0" tIns="0" rIns="0" bIns="0" rtlCol="0" anchor="ctr"/>
          <a:lstStyle/>
          <a:p>
            <a:pPr algn="ctr" indent="0" marL="0">
              <a:buNone/>
            </a:pPr>
            <a:r>
              <a:rPr lang="en-US" sz="2000" b="1" dirty="0">
                <a:solidFill>
                  <a:srgbClr val="1C93A6"/>
                </a:solidFill>
                <a:latin typeface="Calibri" pitchFamily="34" charset="0"/>
                <a:ea typeface="Calibri" pitchFamily="34" charset="-122"/>
                <a:cs typeface="Calibri" pitchFamily="34" charset="-120"/>
              </a:rPr>
              <a:t>→</a:t>
            </a:r>
            <a:endParaRPr lang="en-US" sz="2000" dirty="0"/>
          </a:p>
        </p:txBody>
      </p:sp>
      <p:sp>
        <p:nvSpPr>
          <p:cNvPr id="19" name="Shape 15"/>
          <p:cNvSpPr/>
          <p:nvPr/>
        </p:nvSpPr>
        <p:spPr>
          <a:xfrm>
            <a:off x="6089904" y="2514600"/>
            <a:ext cx="2514600" cy="3246120"/>
          </a:xfrm>
          <a:prstGeom prst="roundRect">
            <a:avLst>
              <a:gd name="adj" fmla="val 3636"/>
            </a:avLst>
          </a:prstGeom>
          <a:solidFill>
            <a:srgbClr val="F3F6FA"/>
          </a:solidFill>
          <a:ln/>
        </p:spPr>
      </p:sp>
      <p:sp>
        <p:nvSpPr>
          <p:cNvPr id="20" name="Shape 16"/>
          <p:cNvSpPr/>
          <p:nvPr/>
        </p:nvSpPr>
        <p:spPr>
          <a:xfrm>
            <a:off x="6935724" y="2834640"/>
            <a:ext cx="822960" cy="822960"/>
          </a:xfrm>
          <a:prstGeom prst="ellipse">
            <a:avLst/>
          </a:prstGeom>
          <a:solidFill>
            <a:srgbClr val="0B1F3A"/>
          </a:solidFill>
          <a:ln/>
        </p:spPr>
      </p:sp>
      <p:pic>
        <p:nvPicPr>
          <p:cNvPr id="21" name="Image 2" descr="C:\Users\rupes\AppData\Local\Temp\claude\E--Projects-Gridalytics\b1299509-94b8-4995-bcba-996ea2dce8b4\scratchpad\icons\chartline.png">    </p:cNvPr>
          <p:cNvPicPr>
            <a:picLocks noChangeAspect="1"/>
          </p:cNvPicPr>
          <p:nvPr/>
        </p:nvPicPr>
        <p:blipFill>
          <a:blip r:embed="rId3"/>
          <a:stretch>
            <a:fillRect/>
          </a:stretch>
        </p:blipFill>
        <p:spPr>
          <a:xfrm>
            <a:off x="7141464" y="3040380"/>
            <a:ext cx="411480" cy="411480"/>
          </a:xfrm>
          <a:prstGeom prst="rect">
            <a:avLst/>
          </a:prstGeom>
        </p:spPr>
      </p:pic>
      <p:sp>
        <p:nvSpPr>
          <p:cNvPr id="22" name="Text 17"/>
          <p:cNvSpPr/>
          <p:nvPr/>
        </p:nvSpPr>
        <p:spPr>
          <a:xfrm>
            <a:off x="8101584" y="2651760"/>
            <a:ext cx="365760" cy="365760"/>
          </a:xfrm>
          <a:prstGeom prst="rect">
            <a:avLst/>
          </a:prstGeom>
          <a:noFill/>
          <a:ln/>
        </p:spPr>
        <p:txBody>
          <a:bodyPr wrap="square" lIns="0" tIns="0" rIns="0" bIns="0" rtlCol="0" anchor="ctr"/>
          <a:lstStyle/>
          <a:p>
            <a:pPr algn="ctr" indent="0" marL="0">
              <a:buNone/>
            </a:pPr>
            <a:r>
              <a:rPr lang="en-US" sz="1400" b="1" dirty="0">
                <a:solidFill>
                  <a:srgbClr val="FFB627"/>
                </a:solidFill>
                <a:latin typeface="Cambria" pitchFamily="34" charset="0"/>
                <a:ea typeface="Cambria" pitchFamily="34" charset="-122"/>
                <a:cs typeface="Cambria" pitchFamily="34" charset="-120"/>
              </a:rPr>
              <a:t>3</a:t>
            </a:r>
            <a:endParaRPr lang="en-US" sz="1400" dirty="0"/>
          </a:p>
        </p:txBody>
      </p:sp>
      <p:sp>
        <p:nvSpPr>
          <p:cNvPr id="23" name="Text 18"/>
          <p:cNvSpPr/>
          <p:nvPr/>
        </p:nvSpPr>
        <p:spPr>
          <a:xfrm>
            <a:off x="6227064" y="3794760"/>
            <a:ext cx="2240280" cy="365760"/>
          </a:xfrm>
          <a:prstGeom prst="rect">
            <a:avLst/>
          </a:prstGeom>
          <a:noFill/>
          <a:ln/>
        </p:spPr>
        <p:txBody>
          <a:bodyPr wrap="square" lIns="0" tIns="0" rIns="0" bIns="0" rtlCol="0" anchor="ctr"/>
          <a:lstStyle/>
          <a:p>
            <a:pPr algn="ctr" indent="0" marL="0">
              <a:buNone/>
            </a:pPr>
            <a:r>
              <a:rPr lang="en-US" sz="1700" b="1" dirty="0">
                <a:solidFill>
                  <a:srgbClr val="17233F"/>
                </a:solidFill>
                <a:latin typeface="Cambria" pitchFamily="34" charset="0"/>
                <a:ea typeface="Cambria" pitchFamily="34" charset="-122"/>
                <a:cs typeface="Cambria" pitchFamily="34" charset="-120"/>
              </a:rPr>
              <a:t>Forecast</a:t>
            </a:r>
            <a:endParaRPr lang="en-US" sz="1700" dirty="0"/>
          </a:p>
        </p:txBody>
      </p:sp>
      <p:sp>
        <p:nvSpPr>
          <p:cNvPr id="24" name="Text 19"/>
          <p:cNvSpPr/>
          <p:nvPr/>
        </p:nvSpPr>
        <p:spPr>
          <a:xfrm>
            <a:off x="6272784" y="4206240"/>
            <a:ext cx="2148840" cy="1417320"/>
          </a:xfrm>
          <a:prstGeom prst="rect">
            <a:avLst/>
          </a:prstGeom>
          <a:noFill/>
          <a:ln/>
        </p:spPr>
        <p:txBody>
          <a:bodyPr wrap="square" lIns="0" tIns="0" rIns="0" bIns="0" rtlCol="0" anchor="t"/>
          <a:lstStyle/>
          <a:p>
            <a:pPr algn="ctr" indent="0" marL="0">
              <a:buNone/>
            </a:pPr>
            <a:r>
              <a:rPr lang="en-US" sz="1200" dirty="0">
                <a:solidFill>
                  <a:srgbClr val="5B6B82"/>
                </a:solidFill>
                <a:latin typeface="Calibri" pitchFamily="34" charset="0"/>
                <a:ea typeface="Calibri" pitchFamily="34" charset="-122"/>
                <a:cs typeface="Calibri" pitchFamily="34" charset="-120"/>
              </a:rPr>
              <a:t>7-model ensemble predicts at 5-min, hourly and daily resolution</a:t>
            </a:r>
            <a:endParaRPr lang="en-US" sz="1200" dirty="0"/>
          </a:p>
        </p:txBody>
      </p:sp>
      <p:sp>
        <p:nvSpPr>
          <p:cNvPr id="25" name="Text 20"/>
          <p:cNvSpPr/>
          <p:nvPr/>
        </p:nvSpPr>
        <p:spPr>
          <a:xfrm>
            <a:off x="8613648" y="3817620"/>
            <a:ext cx="237744" cy="640080"/>
          </a:xfrm>
          <a:prstGeom prst="rect">
            <a:avLst/>
          </a:prstGeom>
          <a:noFill/>
          <a:ln/>
        </p:spPr>
        <p:txBody>
          <a:bodyPr wrap="square" lIns="0" tIns="0" rIns="0" bIns="0" rtlCol="0" anchor="ctr"/>
          <a:lstStyle/>
          <a:p>
            <a:pPr algn="ctr" indent="0" marL="0">
              <a:buNone/>
            </a:pPr>
            <a:r>
              <a:rPr lang="en-US" sz="2000" b="1" dirty="0">
                <a:solidFill>
                  <a:srgbClr val="1C93A6"/>
                </a:solidFill>
                <a:latin typeface="Calibri" pitchFamily="34" charset="0"/>
                <a:ea typeface="Calibri" pitchFamily="34" charset="-122"/>
                <a:cs typeface="Calibri" pitchFamily="34" charset="-120"/>
              </a:rPr>
              <a:t>→</a:t>
            </a:r>
            <a:endParaRPr lang="en-US" sz="2000" dirty="0"/>
          </a:p>
        </p:txBody>
      </p:sp>
      <p:sp>
        <p:nvSpPr>
          <p:cNvPr id="26" name="Shape 21"/>
          <p:cNvSpPr/>
          <p:nvPr/>
        </p:nvSpPr>
        <p:spPr>
          <a:xfrm>
            <a:off x="8860536" y="2514600"/>
            <a:ext cx="2514600" cy="3246120"/>
          </a:xfrm>
          <a:prstGeom prst="roundRect">
            <a:avLst>
              <a:gd name="adj" fmla="val 3636"/>
            </a:avLst>
          </a:prstGeom>
          <a:solidFill>
            <a:srgbClr val="F3F6FA"/>
          </a:solidFill>
          <a:ln/>
        </p:spPr>
      </p:sp>
      <p:sp>
        <p:nvSpPr>
          <p:cNvPr id="27" name="Shape 22"/>
          <p:cNvSpPr/>
          <p:nvPr/>
        </p:nvSpPr>
        <p:spPr>
          <a:xfrm>
            <a:off x="9706356" y="2834640"/>
            <a:ext cx="822960" cy="822960"/>
          </a:xfrm>
          <a:prstGeom prst="ellipse">
            <a:avLst/>
          </a:prstGeom>
          <a:solidFill>
            <a:srgbClr val="0B1F3A"/>
          </a:solidFill>
          <a:ln/>
        </p:spPr>
      </p:sp>
      <p:pic>
        <p:nvPicPr>
          <p:cNvPr id="28" name="Image 3" descr="C:\Users\rupes\AppData\Local\Temp\claude\E--Projects-Gridalytics\b1299509-94b8-4995-bcba-996ea2dce8b4\scratchpad\icons\desktop.png">    </p:cNvPr>
          <p:cNvPicPr>
            <a:picLocks noChangeAspect="1"/>
          </p:cNvPicPr>
          <p:nvPr/>
        </p:nvPicPr>
        <p:blipFill>
          <a:blip r:embed="rId4"/>
          <a:stretch>
            <a:fillRect/>
          </a:stretch>
        </p:blipFill>
        <p:spPr>
          <a:xfrm>
            <a:off x="9912096" y="3040380"/>
            <a:ext cx="411480" cy="411480"/>
          </a:xfrm>
          <a:prstGeom prst="rect">
            <a:avLst/>
          </a:prstGeom>
        </p:spPr>
      </p:pic>
      <p:sp>
        <p:nvSpPr>
          <p:cNvPr id="29" name="Text 23"/>
          <p:cNvSpPr/>
          <p:nvPr/>
        </p:nvSpPr>
        <p:spPr>
          <a:xfrm>
            <a:off x="10872216" y="2651760"/>
            <a:ext cx="365760" cy="365760"/>
          </a:xfrm>
          <a:prstGeom prst="rect">
            <a:avLst/>
          </a:prstGeom>
          <a:noFill/>
          <a:ln/>
        </p:spPr>
        <p:txBody>
          <a:bodyPr wrap="square" lIns="0" tIns="0" rIns="0" bIns="0" rtlCol="0" anchor="ctr"/>
          <a:lstStyle/>
          <a:p>
            <a:pPr algn="ctr" indent="0" marL="0">
              <a:buNone/>
            </a:pPr>
            <a:r>
              <a:rPr lang="en-US" sz="1400" b="1" dirty="0">
                <a:solidFill>
                  <a:srgbClr val="FFB627"/>
                </a:solidFill>
                <a:latin typeface="Cambria" pitchFamily="34" charset="0"/>
                <a:ea typeface="Cambria" pitchFamily="34" charset="-122"/>
                <a:cs typeface="Cambria" pitchFamily="34" charset="-120"/>
              </a:rPr>
              <a:t>4</a:t>
            </a:r>
            <a:endParaRPr lang="en-US" sz="1400" dirty="0"/>
          </a:p>
        </p:txBody>
      </p:sp>
      <p:sp>
        <p:nvSpPr>
          <p:cNvPr id="30" name="Text 24"/>
          <p:cNvSpPr/>
          <p:nvPr/>
        </p:nvSpPr>
        <p:spPr>
          <a:xfrm>
            <a:off x="8997696" y="3794760"/>
            <a:ext cx="2240280" cy="365760"/>
          </a:xfrm>
          <a:prstGeom prst="rect">
            <a:avLst/>
          </a:prstGeom>
          <a:noFill/>
          <a:ln/>
        </p:spPr>
        <p:txBody>
          <a:bodyPr wrap="square" lIns="0" tIns="0" rIns="0" bIns="0" rtlCol="0" anchor="ctr"/>
          <a:lstStyle/>
          <a:p>
            <a:pPr algn="ctr" indent="0" marL="0">
              <a:buNone/>
            </a:pPr>
            <a:r>
              <a:rPr lang="en-US" sz="1700" b="1" dirty="0">
                <a:solidFill>
                  <a:srgbClr val="17233F"/>
                </a:solidFill>
                <a:latin typeface="Cambria" pitchFamily="34" charset="0"/>
                <a:ea typeface="Cambria" pitchFamily="34" charset="-122"/>
                <a:cs typeface="Cambria" pitchFamily="34" charset="-120"/>
              </a:rPr>
              <a:t>Serve</a:t>
            </a:r>
            <a:endParaRPr lang="en-US" sz="1700" dirty="0"/>
          </a:p>
        </p:txBody>
      </p:sp>
      <p:sp>
        <p:nvSpPr>
          <p:cNvPr id="31" name="Text 25"/>
          <p:cNvSpPr/>
          <p:nvPr/>
        </p:nvSpPr>
        <p:spPr>
          <a:xfrm>
            <a:off x="9043416" y="4206240"/>
            <a:ext cx="2148840" cy="1417320"/>
          </a:xfrm>
          <a:prstGeom prst="rect">
            <a:avLst/>
          </a:prstGeom>
          <a:noFill/>
          <a:ln/>
        </p:spPr>
        <p:txBody>
          <a:bodyPr wrap="square" lIns="0" tIns="0" rIns="0" bIns="0" rtlCol="0" anchor="t"/>
          <a:lstStyle/>
          <a:p>
            <a:pPr algn="ctr" indent="0" marL="0">
              <a:buNone/>
            </a:pPr>
            <a:r>
              <a:rPr lang="en-US" sz="1200" dirty="0">
                <a:solidFill>
                  <a:srgbClr val="5B6B82"/>
                </a:solidFill>
                <a:latin typeface="Calibri" pitchFamily="34" charset="0"/>
                <a:ea typeface="Calibri" pitchFamily="34" charset="-122"/>
                <a:cs typeface="Calibri" pitchFamily="34" charset="-120"/>
              </a:rPr>
              <a:t>Delivered via API and live dashboard, up to 90 days ahead</a:t>
            </a:r>
            <a:endParaRPr lang="en-US" sz="1200" dirty="0"/>
          </a:p>
        </p:txBody>
      </p:sp>
      <p:sp>
        <p:nvSpPr>
          <p:cNvPr id="33" name="Text 26"/>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HOW IT WORKS</a:t>
            </a:r>
            <a:endParaRPr lang="en-US" sz="1200" dirty="0"/>
          </a:p>
        </p:txBody>
      </p:sp>
      <p:sp>
        <p:nvSpPr>
          <p:cNvPr id="3" name="Text 1"/>
          <p:cNvSpPr/>
          <p:nvPr/>
        </p:nvSpPr>
        <p:spPr>
          <a:xfrm>
            <a:off x="548640" y="685800"/>
            <a:ext cx="1115568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End-to-End Pipeline — Live, Automated, Continuously Learning</a:t>
            </a:r>
            <a:endParaRPr lang="en-US" sz="2600" dirty="0"/>
          </a:p>
        </p:txBody>
      </p:sp>
      <p:sp>
        <p:nvSpPr>
          <p:cNvPr id="4" name="Shape 2"/>
          <p:cNvSpPr/>
          <p:nvPr/>
        </p:nvSpPr>
        <p:spPr>
          <a:xfrm>
            <a:off x="502920" y="1965960"/>
            <a:ext cx="2084832" cy="3977640"/>
          </a:xfrm>
          <a:prstGeom prst="roundRect">
            <a:avLst>
              <a:gd name="adj" fmla="val 4386"/>
            </a:avLst>
          </a:prstGeom>
          <a:solidFill>
            <a:srgbClr val="182F52"/>
          </a:solidFill>
          <a:ln/>
        </p:spPr>
      </p:sp>
      <p:sp>
        <p:nvSpPr>
          <p:cNvPr id="5" name="Shape 3"/>
          <p:cNvSpPr/>
          <p:nvPr/>
        </p:nvSpPr>
        <p:spPr>
          <a:xfrm>
            <a:off x="1179576" y="2240280"/>
            <a:ext cx="731520" cy="731520"/>
          </a:xfrm>
          <a:prstGeom prst="ellipse">
            <a:avLst/>
          </a:prstGeom>
          <a:solidFill>
            <a:srgbClr val="1C93A6"/>
          </a:solidFill>
          <a:ln/>
        </p:spPr>
      </p:sp>
      <p:pic>
        <p:nvPicPr>
          <p:cNvPr id="6" name="Image 0" descr="C:\Users\rupes\AppData\Local\Temp\claude\E--Projects-Gridalytics\b1299509-94b8-4995-bcba-996ea2dce8b4\scratchpad\icons\cloud.png">    </p:cNvPr>
          <p:cNvPicPr>
            <a:picLocks noChangeAspect="1"/>
          </p:cNvPicPr>
          <p:nvPr/>
        </p:nvPicPr>
        <p:blipFill>
          <a:blip r:embed="rId1"/>
          <a:stretch>
            <a:fillRect/>
          </a:stretch>
        </p:blipFill>
        <p:spPr>
          <a:xfrm>
            <a:off x="1362456" y="2423160"/>
            <a:ext cx="365760" cy="365760"/>
          </a:xfrm>
          <a:prstGeom prst="rect">
            <a:avLst/>
          </a:prstGeom>
        </p:spPr>
      </p:pic>
      <p:sp>
        <p:nvSpPr>
          <p:cNvPr id="7" name="Text 4"/>
          <p:cNvSpPr/>
          <p:nvPr/>
        </p:nvSpPr>
        <p:spPr>
          <a:xfrm>
            <a:off x="612648" y="3108960"/>
            <a:ext cx="1865376" cy="594360"/>
          </a:xfrm>
          <a:prstGeom prst="rect">
            <a:avLst/>
          </a:prstGeom>
          <a:noFill/>
          <a:ln/>
        </p:spPr>
        <p:txBody>
          <a:bodyPr wrap="square" lIns="0" tIns="0" rIns="0" bIns="0"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Data Sources</a:t>
            </a:r>
            <a:endParaRPr lang="en-US" sz="1450" dirty="0"/>
          </a:p>
        </p:txBody>
      </p:sp>
      <p:sp>
        <p:nvSpPr>
          <p:cNvPr id="8" name="Text 5"/>
          <p:cNvSpPr/>
          <p:nvPr/>
        </p:nvSpPr>
        <p:spPr>
          <a:xfrm>
            <a:off x="640080" y="3749040"/>
            <a:ext cx="1810512" cy="2057400"/>
          </a:xfrm>
          <a:prstGeom prst="rect">
            <a:avLst/>
          </a:prstGeom>
          <a:noFill/>
          <a:ln/>
        </p:spPr>
        <p:txBody>
          <a:bodyPr wrap="square" lIns="0" tIns="0" rIns="0" bIns="0" rtlCol="0" anchor="t"/>
          <a:lstStyle/>
          <a:p>
            <a:pPr algn="ctr" indent="0" marL="0">
              <a:buNone/>
            </a:pPr>
            <a:r>
              <a:rPr lang="en-US" sz="1050" dirty="0">
                <a:solidFill>
                  <a:srgbClr val="B9C6E0"/>
                </a:solidFill>
                <a:latin typeface="Calibri" pitchFamily="34" charset="0"/>
                <a:ea typeface="Calibri" pitchFamily="34" charset="-122"/>
                <a:cs typeface="Calibri" pitchFamily="34" charset="-120"/>
              </a:rPr>
              <a:t>Delhi SLDC SCADA (5-min) · Open-Meteo weather &amp; AQI · holidays &amp; festivals</a:t>
            </a:r>
            <a:endParaRPr lang="en-US" sz="1050" dirty="0"/>
          </a:p>
        </p:txBody>
      </p:sp>
      <p:sp>
        <p:nvSpPr>
          <p:cNvPr id="9" name="Text 6"/>
          <p:cNvSpPr/>
          <p:nvPr/>
        </p:nvSpPr>
        <p:spPr>
          <a:xfrm>
            <a:off x="2587752" y="2468880"/>
            <a:ext cx="118872" cy="457200"/>
          </a:xfrm>
          <a:prstGeom prst="rect">
            <a:avLst/>
          </a:prstGeom>
          <a:noFill/>
          <a:ln/>
        </p:spPr>
        <p:txBody>
          <a:bodyPr wrap="square" lIns="0" tIns="0" rIns="0" bIns="0" rtlCol="0" anchor="ctr"/>
          <a:lstStyle/>
          <a:p>
            <a:pPr algn="ctr" indent="0" marL="0">
              <a:buNone/>
            </a:pPr>
            <a:r>
              <a:rPr lang="en-US" sz="2000" b="1" dirty="0">
                <a:solidFill>
                  <a:srgbClr val="FFB627"/>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715768" y="1965960"/>
            <a:ext cx="2084832" cy="3977640"/>
          </a:xfrm>
          <a:prstGeom prst="roundRect">
            <a:avLst>
              <a:gd name="adj" fmla="val 4386"/>
            </a:avLst>
          </a:prstGeom>
          <a:solidFill>
            <a:srgbClr val="182F52"/>
          </a:solidFill>
          <a:ln/>
        </p:spPr>
      </p:sp>
      <p:sp>
        <p:nvSpPr>
          <p:cNvPr id="11" name="Shape 8"/>
          <p:cNvSpPr/>
          <p:nvPr/>
        </p:nvSpPr>
        <p:spPr>
          <a:xfrm>
            <a:off x="3392424" y="2240280"/>
            <a:ext cx="731520" cy="731520"/>
          </a:xfrm>
          <a:prstGeom prst="ellipse">
            <a:avLst/>
          </a:prstGeom>
          <a:solidFill>
            <a:srgbClr val="1C93A6"/>
          </a:solidFill>
          <a:ln/>
        </p:spPr>
      </p:sp>
      <p:pic>
        <p:nvPicPr>
          <p:cNvPr id="12" name="Image 1" descr="C:\Users\rupes\AppData\Local\Temp\claude\E--Projects-Gridalytics\b1299509-94b8-4995-bcba-996ea2dce8b4\scratchpad\icons\sync.png">    </p:cNvPr>
          <p:cNvPicPr>
            <a:picLocks noChangeAspect="1"/>
          </p:cNvPicPr>
          <p:nvPr/>
        </p:nvPicPr>
        <p:blipFill>
          <a:blip r:embed="rId2"/>
          <a:stretch>
            <a:fillRect/>
          </a:stretch>
        </p:blipFill>
        <p:spPr>
          <a:xfrm>
            <a:off x="3575304" y="2423160"/>
            <a:ext cx="365760" cy="365760"/>
          </a:xfrm>
          <a:prstGeom prst="rect">
            <a:avLst/>
          </a:prstGeom>
        </p:spPr>
      </p:pic>
      <p:sp>
        <p:nvSpPr>
          <p:cNvPr id="13" name="Text 9"/>
          <p:cNvSpPr/>
          <p:nvPr/>
        </p:nvSpPr>
        <p:spPr>
          <a:xfrm>
            <a:off x="2825496" y="3108960"/>
            <a:ext cx="1865376" cy="594360"/>
          </a:xfrm>
          <a:prstGeom prst="rect">
            <a:avLst/>
          </a:prstGeom>
          <a:noFill/>
          <a:ln/>
        </p:spPr>
        <p:txBody>
          <a:bodyPr wrap="square" lIns="0" tIns="0" rIns="0" bIns="0"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Automated Ingestion</a:t>
            </a:r>
            <a:endParaRPr lang="en-US" sz="1450" dirty="0"/>
          </a:p>
        </p:txBody>
      </p:sp>
      <p:sp>
        <p:nvSpPr>
          <p:cNvPr id="14" name="Text 10"/>
          <p:cNvSpPr/>
          <p:nvPr/>
        </p:nvSpPr>
        <p:spPr>
          <a:xfrm>
            <a:off x="2852928" y="3749040"/>
            <a:ext cx="1810512" cy="2057400"/>
          </a:xfrm>
          <a:prstGeom prst="rect">
            <a:avLst/>
          </a:prstGeom>
          <a:noFill/>
          <a:ln/>
        </p:spPr>
        <p:txBody>
          <a:bodyPr wrap="square" lIns="0" tIns="0" rIns="0" bIns="0" rtlCol="0" anchor="t"/>
          <a:lstStyle/>
          <a:p>
            <a:pPr algn="ctr" indent="0" marL="0">
              <a:buNone/>
            </a:pPr>
            <a:r>
              <a:rPr lang="en-US" sz="1050" dirty="0">
                <a:solidFill>
                  <a:srgbClr val="B9C6E0"/>
                </a:solidFill>
                <a:latin typeface="Calibri" pitchFamily="34" charset="0"/>
                <a:ea typeface="Calibri" pitchFamily="34" charset="-122"/>
                <a:cs typeface="Calibri" pitchFamily="34" charset="-120"/>
              </a:rPr>
              <a:t>GitHub Actions, every 6 hours · 252,000+ rows in Supabase Postgres</a:t>
            </a:r>
            <a:endParaRPr lang="en-US" sz="1050" dirty="0"/>
          </a:p>
        </p:txBody>
      </p:sp>
      <p:sp>
        <p:nvSpPr>
          <p:cNvPr id="15" name="Text 11"/>
          <p:cNvSpPr/>
          <p:nvPr/>
        </p:nvSpPr>
        <p:spPr>
          <a:xfrm>
            <a:off x="4800600" y="2468880"/>
            <a:ext cx="118872" cy="457200"/>
          </a:xfrm>
          <a:prstGeom prst="rect">
            <a:avLst/>
          </a:prstGeom>
          <a:noFill/>
          <a:ln/>
        </p:spPr>
        <p:txBody>
          <a:bodyPr wrap="square" lIns="0" tIns="0" rIns="0" bIns="0" rtlCol="0" anchor="ctr"/>
          <a:lstStyle/>
          <a:p>
            <a:pPr algn="ctr" indent="0" marL="0">
              <a:buNone/>
            </a:pPr>
            <a:r>
              <a:rPr lang="en-US" sz="2000" b="1" dirty="0">
                <a:solidFill>
                  <a:srgbClr val="FFB627"/>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4928616" y="1965960"/>
            <a:ext cx="2084832" cy="3977640"/>
          </a:xfrm>
          <a:prstGeom prst="roundRect">
            <a:avLst>
              <a:gd name="adj" fmla="val 4386"/>
            </a:avLst>
          </a:prstGeom>
          <a:solidFill>
            <a:srgbClr val="182F52"/>
          </a:solidFill>
          <a:ln/>
        </p:spPr>
      </p:sp>
      <p:sp>
        <p:nvSpPr>
          <p:cNvPr id="17" name="Shape 13"/>
          <p:cNvSpPr/>
          <p:nvPr/>
        </p:nvSpPr>
        <p:spPr>
          <a:xfrm>
            <a:off x="5605272" y="2240280"/>
            <a:ext cx="731520" cy="731520"/>
          </a:xfrm>
          <a:prstGeom prst="ellipse">
            <a:avLst/>
          </a:prstGeom>
          <a:solidFill>
            <a:srgbClr val="1C93A6"/>
          </a:solidFill>
          <a:ln/>
        </p:spPr>
      </p:sp>
      <p:pic>
        <p:nvPicPr>
          <p:cNvPr id="18" name="Image 2" descr="C:\Users\rupes\AppData\Local\Temp\claude\E--Projects-Gridalytics\b1299509-94b8-4995-bcba-996ea2dce8b4\scratchpad\icons\cogs.png">    </p:cNvPr>
          <p:cNvPicPr>
            <a:picLocks noChangeAspect="1"/>
          </p:cNvPicPr>
          <p:nvPr/>
        </p:nvPicPr>
        <p:blipFill>
          <a:blip r:embed="rId3"/>
          <a:stretch>
            <a:fillRect/>
          </a:stretch>
        </p:blipFill>
        <p:spPr>
          <a:xfrm>
            <a:off x="5788152" y="2423160"/>
            <a:ext cx="365760" cy="365760"/>
          </a:xfrm>
          <a:prstGeom prst="rect">
            <a:avLst/>
          </a:prstGeom>
        </p:spPr>
      </p:pic>
      <p:sp>
        <p:nvSpPr>
          <p:cNvPr id="19" name="Text 14"/>
          <p:cNvSpPr/>
          <p:nvPr/>
        </p:nvSpPr>
        <p:spPr>
          <a:xfrm>
            <a:off x="5038344" y="3108960"/>
            <a:ext cx="1865376" cy="594360"/>
          </a:xfrm>
          <a:prstGeom prst="rect">
            <a:avLst/>
          </a:prstGeom>
          <a:noFill/>
          <a:ln/>
        </p:spPr>
        <p:txBody>
          <a:bodyPr wrap="square" lIns="0" tIns="0" rIns="0" bIns="0"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Feature Engineering</a:t>
            </a:r>
            <a:endParaRPr lang="en-US" sz="1450" dirty="0"/>
          </a:p>
        </p:txBody>
      </p:sp>
      <p:sp>
        <p:nvSpPr>
          <p:cNvPr id="20" name="Text 15"/>
          <p:cNvSpPr/>
          <p:nvPr/>
        </p:nvSpPr>
        <p:spPr>
          <a:xfrm>
            <a:off x="5065776" y="3749040"/>
            <a:ext cx="1810512" cy="2057400"/>
          </a:xfrm>
          <a:prstGeom prst="rect">
            <a:avLst/>
          </a:prstGeom>
          <a:noFill/>
          <a:ln/>
        </p:spPr>
        <p:txBody>
          <a:bodyPr wrap="square" lIns="0" tIns="0" rIns="0" bIns="0" rtlCol="0" anchor="t"/>
          <a:lstStyle/>
          <a:p>
            <a:pPr algn="ctr" indent="0" marL="0">
              <a:buNone/>
            </a:pPr>
            <a:r>
              <a:rPr lang="en-US" sz="1050" dirty="0">
                <a:solidFill>
                  <a:srgbClr val="B9C6E0"/>
                </a:solidFill>
                <a:latin typeface="Calibri" pitchFamily="34" charset="0"/>
                <a:ea typeface="Calibri" pitchFamily="34" charset="-122"/>
                <a:cs typeface="Calibri" pitchFamily="34" charset="-120"/>
              </a:rPr>
              <a:t>93 features — lags, rolling stats, Fourier terms, calendar, weather</a:t>
            </a:r>
            <a:endParaRPr lang="en-US" sz="1050" dirty="0"/>
          </a:p>
        </p:txBody>
      </p:sp>
      <p:sp>
        <p:nvSpPr>
          <p:cNvPr id="21" name="Text 16"/>
          <p:cNvSpPr/>
          <p:nvPr/>
        </p:nvSpPr>
        <p:spPr>
          <a:xfrm>
            <a:off x="7013448" y="2468880"/>
            <a:ext cx="118872" cy="457200"/>
          </a:xfrm>
          <a:prstGeom prst="rect">
            <a:avLst/>
          </a:prstGeom>
          <a:noFill/>
          <a:ln/>
        </p:spPr>
        <p:txBody>
          <a:bodyPr wrap="square" lIns="0" tIns="0" rIns="0" bIns="0" rtlCol="0" anchor="ctr"/>
          <a:lstStyle/>
          <a:p>
            <a:pPr algn="ctr" indent="0" marL="0">
              <a:buNone/>
            </a:pPr>
            <a:r>
              <a:rPr lang="en-US" sz="2000" b="1" dirty="0">
                <a:solidFill>
                  <a:srgbClr val="FFB627"/>
                </a:solidFill>
                <a:latin typeface="Calibri" pitchFamily="34" charset="0"/>
                <a:ea typeface="Calibri" pitchFamily="34" charset="-122"/>
                <a:cs typeface="Calibri" pitchFamily="34" charset="-120"/>
              </a:rPr>
              <a:t>›</a:t>
            </a:r>
            <a:endParaRPr lang="en-US" sz="2000" dirty="0"/>
          </a:p>
        </p:txBody>
      </p:sp>
      <p:sp>
        <p:nvSpPr>
          <p:cNvPr id="22" name="Shape 17"/>
          <p:cNvSpPr/>
          <p:nvPr/>
        </p:nvSpPr>
        <p:spPr>
          <a:xfrm>
            <a:off x="7141464" y="1965960"/>
            <a:ext cx="2084832" cy="3977640"/>
          </a:xfrm>
          <a:prstGeom prst="roundRect">
            <a:avLst>
              <a:gd name="adj" fmla="val 4386"/>
            </a:avLst>
          </a:prstGeom>
          <a:solidFill>
            <a:srgbClr val="182F52"/>
          </a:solidFill>
          <a:ln/>
        </p:spPr>
      </p:sp>
      <p:sp>
        <p:nvSpPr>
          <p:cNvPr id="23" name="Shape 18"/>
          <p:cNvSpPr/>
          <p:nvPr/>
        </p:nvSpPr>
        <p:spPr>
          <a:xfrm>
            <a:off x="7818120" y="2240280"/>
            <a:ext cx="731520" cy="731520"/>
          </a:xfrm>
          <a:prstGeom prst="ellipse">
            <a:avLst/>
          </a:prstGeom>
          <a:solidFill>
            <a:srgbClr val="1C93A6"/>
          </a:solidFill>
          <a:ln/>
        </p:spPr>
      </p:sp>
      <p:pic>
        <p:nvPicPr>
          <p:cNvPr id="24" name="Image 3" descr="C:\Users\rupes\AppData\Local\Temp\claude\E--Projects-Gridalytics\b1299509-94b8-4995-bcba-996ea2dce8b4\scratchpad\icons\brain.png">    </p:cNvPr>
          <p:cNvPicPr>
            <a:picLocks noChangeAspect="1"/>
          </p:cNvPicPr>
          <p:nvPr/>
        </p:nvPicPr>
        <p:blipFill>
          <a:blip r:embed="rId4"/>
          <a:stretch>
            <a:fillRect/>
          </a:stretch>
        </p:blipFill>
        <p:spPr>
          <a:xfrm>
            <a:off x="8001000" y="2423160"/>
            <a:ext cx="365760" cy="365760"/>
          </a:xfrm>
          <a:prstGeom prst="rect">
            <a:avLst/>
          </a:prstGeom>
        </p:spPr>
      </p:pic>
      <p:sp>
        <p:nvSpPr>
          <p:cNvPr id="25" name="Text 19"/>
          <p:cNvSpPr/>
          <p:nvPr/>
        </p:nvSpPr>
        <p:spPr>
          <a:xfrm>
            <a:off x="7251192" y="3108960"/>
            <a:ext cx="1865376" cy="594360"/>
          </a:xfrm>
          <a:prstGeom prst="rect">
            <a:avLst/>
          </a:prstGeom>
          <a:noFill/>
          <a:ln/>
        </p:spPr>
        <p:txBody>
          <a:bodyPr wrap="square" lIns="0" tIns="0" rIns="0" bIns="0"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7-Model Ensemble</a:t>
            </a:r>
            <a:endParaRPr lang="en-US" sz="1450" dirty="0"/>
          </a:p>
        </p:txBody>
      </p:sp>
      <p:sp>
        <p:nvSpPr>
          <p:cNvPr id="26" name="Text 20"/>
          <p:cNvSpPr/>
          <p:nvPr/>
        </p:nvSpPr>
        <p:spPr>
          <a:xfrm>
            <a:off x="7278624" y="3749040"/>
            <a:ext cx="1810512" cy="2057400"/>
          </a:xfrm>
          <a:prstGeom prst="rect">
            <a:avLst/>
          </a:prstGeom>
          <a:noFill/>
          <a:ln/>
        </p:spPr>
        <p:txBody>
          <a:bodyPr wrap="square" lIns="0" tIns="0" rIns="0" bIns="0" rtlCol="0" anchor="t"/>
          <a:lstStyle/>
          <a:p>
            <a:pPr algn="ctr" indent="0" marL="0">
              <a:buNone/>
            </a:pPr>
            <a:r>
              <a:rPr lang="en-US" sz="1050" dirty="0">
                <a:solidFill>
                  <a:srgbClr val="B9C6E0"/>
                </a:solidFill>
                <a:latin typeface="Calibri" pitchFamily="34" charset="0"/>
                <a:ea typeface="Calibri" pitchFamily="34" charset="-122"/>
                <a:cs typeface="Calibri" pitchFamily="34" charset="-120"/>
              </a:rPr>
              <a:t>LightGBM, XGBoost, BiLSTM, SARIMAX, NeuralProphet + Optuna, walk-forward CV</a:t>
            </a:r>
            <a:endParaRPr lang="en-US" sz="1050" dirty="0"/>
          </a:p>
        </p:txBody>
      </p:sp>
      <p:sp>
        <p:nvSpPr>
          <p:cNvPr id="27" name="Text 21"/>
          <p:cNvSpPr/>
          <p:nvPr/>
        </p:nvSpPr>
        <p:spPr>
          <a:xfrm>
            <a:off x="9226296" y="2468880"/>
            <a:ext cx="118872" cy="457200"/>
          </a:xfrm>
          <a:prstGeom prst="rect">
            <a:avLst/>
          </a:prstGeom>
          <a:noFill/>
          <a:ln/>
        </p:spPr>
        <p:txBody>
          <a:bodyPr wrap="square" lIns="0" tIns="0" rIns="0" bIns="0" rtlCol="0" anchor="ctr"/>
          <a:lstStyle/>
          <a:p>
            <a:pPr algn="ctr" indent="0" marL="0">
              <a:buNone/>
            </a:pPr>
            <a:r>
              <a:rPr lang="en-US" sz="2000" b="1" dirty="0">
                <a:solidFill>
                  <a:srgbClr val="FFB627"/>
                </a:solidFill>
                <a:latin typeface="Calibri" pitchFamily="34" charset="0"/>
                <a:ea typeface="Calibri" pitchFamily="34" charset="-122"/>
                <a:cs typeface="Calibri" pitchFamily="34" charset="-120"/>
              </a:rPr>
              <a:t>›</a:t>
            </a:r>
            <a:endParaRPr lang="en-US" sz="2000" dirty="0"/>
          </a:p>
        </p:txBody>
      </p:sp>
      <p:sp>
        <p:nvSpPr>
          <p:cNvPr id="28" name="Shape 22"/>
          <p:cNvSpPr/>
          <p:nvPr/>
        </p:nvSpPr>
        <p:spPr>
          <a:xfrm>
            <a:off x="9354312" y="1965960"/>
            <a:ext cx="2084832" cy="3977640"/>
          </a:xfrm>
          <a:prstGeom prst="roundRect">
            <a:avLst>
              <a:gd name="adj" fmla="val 4386"/>
            </a:avLst>
          </a:prstGeom>
          <a:solidFill>
            <a:srgbClr val="182F52"/>
          </a:solidFill>
          <a:ln/>
        </p:spPr>
      </p:sp>
      <p:sp>
        <p:nvSpPr>
          <p:cNvPr id="29" name="Shape 23"/>
          <p:cNvSpPr/>
          <p:nvPr/>
        </p:nvSpPr>
        <p:spPr>
          <a:xfrm>
            <a:off x="10030968" y="2240280"/>
            <a:ext cx="731520" cy="731520"/>
          </a:xfrm>
          <a:prstGeom prst="ellipse">
            <a:avLst/>
          </a:prstGeom>
          <a:solidFill>
            <a:srgbClr val="1C93A6"/>
          </a:solidFill>
          <a:ln/>
        </p:spPr>
      </p:sp>
      <p:pic>
        <p:nvPicPr>
          <p:cNvPr id="30" name="Image 4" descr="C:\Users\rupes\AppData\Local\Temp\claude\E--Projects-Gridalytics\b1299509-94b8-4995-bcba-996ea2dce8b4\scratchpad\icons\desktop.png">    </p:cNvPr>
          <p:cNvPicPr>
            <a:picLocks noChangeAspect="1"/>
          </p:cNvPicPr>
          <p:nvPr/>
        </p:nvPicPr>
        <p:blipFill>
          <a:blip r:embed="rId5"/>
          <a:stretch>
            <a:fillRect/>
          </a:stretch>
        </p:blipFill>
        <p:spPr>
          <a:xfrm>
            <a:off x="10213848" y="2423160"/>
            <a:ext cx="365760" cy="365760"/>
          </a:xfrm>
          <a:prstGeom prst="rect">
            <a:avLst/>
          </a:prstGeom>
        </p:spPr>
      </p:pic>
      <p:sp>
        <p:nvSpPr>
          <p:cNvPr id="31" name="Text 24"/>
          <p:cNvSpPr/>
          <p:nvPr/>
        </p:nvSpPr>
        <p:spPr>
          <a:xfrm>
            <a:off x="9464040" y="3108960"/>
            <a:ext cx="1865376" cy="594360"/>
          </a:xfrm>
          <a:prstGeom prst="rect">
            <a:avLst/>
          </a:prstGeom>
          <a:noFill/>
          <a:ln/>
        </p:spPr>
        <p:txBody>
          <a:bodyPr wrap="square" lIns="0" tIns="0" rIns="0" bIns="0" rtlCol="0" anchor="t"/>
          <a:lstStyle/>
          <a:p>
            <a:pPr algn="ctr" indent="0" marL="0">
              <a:buNone/>
            </a:pPr>
            <a:r>
              <a:rPr lang="en-US" sz="1450" b="1" dirty="0">
                <a:solidFill>
                  <a:srgbClr val="FFFFFF"/>
                </a:solidFill>
                <a:latin typeface="Cambria" pitchFamily="34" charset="0"/>
                <a:ea typeface="Cambria" pitchFamily="34" charset="-122"/>
                <a:cs typeface="Cambria" pitchFamily="34" charset="-120"/>
              </a:rPr>
              <a:t>Serve</a:t>
            </a:r>
            <a:endParaRPr lang="en-US" sz="1450" dirty="0"/>
          </a:p>
        </p:txBody>
      </p:sp>
      <p:sp>
        <p:nvSpPr>
          <p:cNvPr id="32" name="Text 25"/>
          <p:cNvSpPr/>
          <p:nvPr/>
        </p:nvSpPr>
        <p:spPr>
          <a:xfrm>
            <a:off x="9491472" y="3749040"/>
            <a:ext cx="1810512" cy="2057400"/>
          </a:xfrm>
          <a:prstGeom prst="rect">
            <a:avLst/>
          </a:prstGeom>
          <a:noFill/>
          <a:ln/>
        </p:spPr>
        <p:txBody>
          <a:bodyPr wrap="square" lIns="0" tIns="0" rIns="0" bIns="0" rtlCol="0" anchor="t"/>
          <a:lstStyle/>
          <a:p>
            <a:pPr algn="ctr" indent="0" marL="0">
              <a:buNone/>
            </a:pPr>
            <a:r>
              <a:rPr lang="en-US" sz="1050" dirty="0">
                <a:solidFill>
                  <a:srgbClr val="B9C6E0"/>
                </a:solidFill>
                <a:latin typeface="Calibri" pitchFamily="34" charset="0"/>
                <a:ea typeface="Calibri" pitchFamily="34" charset="-122"/>
                <a:cs typeface="Calibri" pitchFamily="34" charset="-120"/>
              </a:rPr>
              <a:t>FastAPI (27 endpoints) → Next.js dashboard (10 pages) + external consumers</a:t>
            </a:r>
            <a:endParaRPr lang="en-US" sz="1050" dirty="0"/>
          </a:p>
        </p:txBody>
      </p:sp>
      <p:sp>
        <p:nvSpPr>
          <p:cNvPr id="34" name="Text 26"/>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UNIQUENESS</a:t>
            </a:r>
            <a:endParaRPr lang="en-US" sz="1200" dirty="0"/>
          </a:p>
        </p:txBody>
      </p:sp>
      <p:sp>
        <p:nvSpPr>
          <p:cNvPr id="3" name="Text 1"/>
          <p:cNvSpPr/>
          <p:nvPr/>
        </p:nvSpPr>
        <p:spPr>
          <a:xfrm>
            <a:off x="548640" y="685800"/>
            <a:ext cx="1005840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What Makes It Different</a:t>
            </a:r>
            <a:endParaRPr lang="en-US" sz="3200" dirty="0"/>
          </a:p>
        </p:txBody>
      </p:sp>
      <p:sp>
        <p:nvSpPr>
          <p:cNvPr id="4" name="Shape 2"/>
          <p:cNvSpPr/>
          <p:nvPr/>
        </p:nvSpPr>
        <p:spPr>
          <a:xfrm>
            <a:off x="548640" y="1783080"/>
            <a:ext cx="5257800" cy="1828800"/>
          </a:xfrm>
          <a:prstGeom prst="roundRect">
            <a:avLst>
              <a:gd name="adj" fmla="val 5000"/>
            </a:avLst>
          </a:prstGeom>
          <a:solidFill>
            <a:srgbClr val="F3F6FA"/>
          </a:solidFill>
          <a:ln/>
        </p:spPr>
      </p:sp>
      <p:sp>
        <p:nvSpPr>
          <p:cNvPr id="5" name="Shape 3"/>
          <p:cNvSpPr/>
          <p:nvPr/>
        </p:nvSpPr>
        <p:spPr>
          <a:xfrm>
            <a:off x="804672" y="2308860"/>
            <a:ext cx="777240" cy="777240"/>
          </a:xfrm>
          <a:prstGeom prst="ellipse">
            <a:avLst/>
          </a:prstGeom>
          <a:solidFill>
            <a:srgbClr val="0B1F3A"/>
          </a:solidFill>
          <a:ln/>
        </p:spPr>
      </p:sp>
      <p:pic>
        <p:nvPicPr>
          <p:cNvPr id="6" name="Image 0" descr="C:\Users\rupes\AppData\Local\Temp\claude\E--Projects-Gridalytics\b1299509-94b8-4995-bcba-996ea2dce8b4\scratchpad\icons\layers.png">    </p:cNvPr>
          <p:cNvPicPr>
            <a:picLocks noChangeAspect="1"/>
          </p:cNvPicPr>
          <p:nvPr/>
        </p:nvPicPr>
        <p:blipFill>
          <a:blip r:embed="rId1"/>
          <a:stretch>
            <a:fillRect/>
          </a:stretch>
        </p:blipFill>
        <p:spPr>
          <a:xfrm>
            <a:off x="998982" y="2503170"/>
            <a:ext cx="388620" cy="388620"/>
          </a:xfrm>
          <a:prstGeom prst="rect">
            <a:avLst/>
          </a:prstGeom>
        </p:spPr>
      </p:pic>
      <p:sp>
        <p:nvSpPr>
          <p:cNvPr id="7" name="Text 4"/>
          <p:cNvSpPr/>
          <p:nvPr/>
        </p:nvSpPr>
        <p:spPr>
          <a:xfrm>
            <a:off x="1783080" y="1965960"/>
            <a:ext cx="3840480" cy="411480"/>
          </a:xfrm>
          <a:prstGeom prst="rect">
            <a:avLst/>
          </a:prstGeom>
          <a:noFill/>
          <a:ln/>
        </p:spPr>
        <p:txBody>
          <a:bodyPr wrap="square" lIns="0" tIns="0" rIns="0" bIns="0" rtlCol="0" anchor="ctr"/>
          <a:lstStyle/>
          <a:p>
            <a:pPr indent="0" marL="0">
              <a:buNone/>
            </a:pPr>
            <a:r>
              <a:rPr lang="en-US" sz="1550" b="1" dirty="0">
                <a:solidFill>
                  <a:srgbClr val="17233F"/>
                </a:solidFill>
                <a:latin typeface="Cambria" pitchFamily="34" charset="0"/>
                <a:ea typeface="Cambria" pitchFamily="34" charset="-122"/>
                <a:cs typeface="Cambria" pitchFamily="34" charset="-120"/>
              </a:rPr>
              <a:t>Multi-Resolution Forecasting</a:t>
            </a:r>
            <a:endParaRPr lang="en-US" sz="1550" dirty="0"/>
          </a:p>
        </p:txBody>
      </p:sp>
      <p:sp>
        <p:nvSpPr>
          <p:cNvPr id="8" name="Text 5"/>
          <p:cNvSpPr/>
          <p:nvPr/>
        </p:nvSpPr>
        <p:spPr>
          <a:xfrm>
            <a:off x="1783080" y="2377440"/>
            <a:ext cx="3840480" cy="1097280"/>
          </a:xfrm>
          <a:prstGeom prst="rect">
            <a:avLst/>
          </a:prstGeom>
          <a:noFill/>
          <a:ln/>
        </p:spPr>
        <p:txBody>
          <a:bodyPr wrap="square" lIns="0" tIns="0" rIns="0" bIns="0" rtlCol="0" anchor="t"/>
          <a:lstStyle/>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One system forecasts at 5-minute, hourly and daily scales, up to 90 days ahead — resolving the intraday ramps and peaks most utilities never see.</a:t>
            </a:r>
            <a:endParaRPr lang="en-US" sz="1150" dirty="0"/>
          </a:p>
        </p:txBody>
      </p:sp>
      <p:sp>
        <p:nvSpPr>
          <p:cNvPr id="9" name="Shape 6"/>
          <p:cNvSpPr/>
          <p:nvPr/>
        </p:nvSpPr>
        <p:spPr>
          <a:xfrm>
            <a:off x="6172200" y="1783080"/>
            <a:ext cx="5257800" cy="1828800"/>
          </a:xfrm>
          <a:prstGeom prst="roundRect">
            <a:avLst>
              <a:gd name="adj" fmla="val 5000"/>
            </a:avLst>
          </a:prstGeom>
          <a:solidFill>
            <a:srgbClr val="F3F6FA"/>
          </a:solidFill>
          <a:ln/>
        </p:spPr>
      </p:sp>
      <p:sp>
        <p:nvSpPr>
          <p:cNvPr id="10" name="Shape 7"/>
          <p:cNvSpPr/>
          <p:nvPr/>
        </p:nvSpPr>
        <p:spPr>
          <a:xfrm>
            <a:off x="6428232" y="2308860"/>
            <a:ext cx="777240" cy="777240"/>
          </a:xfrm>
          <a:prstGeom prst="ellipse">
            <a:avLst/>
          </a:prstGeom>
          <a:solidFill>
            <a:srgbClr val="0B1F3A"/>
          </a:solidFill>
          <a:ln/>
        </p:spPr>
      </p:sp>
      <p:pic>
        <p:nvPicPr>
          <p:cNvPr id="11" name="Image 1" descr="C:\Users\rupes\AppData\Local\Temp\claude\E--Projects-Gridalytics\b1299509-94b8-4995-bcba-996ea2dce8b4\scratchpad\icons\target.png">    </p:cNvPr>
          <p:cNvPicPr>
            <a:picLocks noChangeAspect="1"/>
          </p:cNvPicPr>
          <p:nvPr/>
        </p:nvPicPr>
        <p:blipFill>
          <a:blip r:embed="rId2"/>
          <a:stretch>
            <a:fillRect/>
          </a:stretch>
        </p:blipFill>
        <p:spPr>
          <a:xfrm>
            <a:off x="6622542" y="2503170"/>
            <a:ext cx="388620" cy="388620"/>
          </a:xfrm>
          <a:prstGeom prst="rect">
            <a:avLst/>
          </a:prstGeom>
        </p:spPr>
      </p:pic>
      <p:sp>
        <p:nvSpPr>
          <p:cNvPr id="12" name="Text 8"/>
          <p:cNvSpPr/>
          <p:nvPr/>
        </p:nvSpPr>
        <p:spPr>
          <a:xfrm>
            <a:off x="7406640" y="1965960"/>
            <a:ext cx="3840480" cy="411480"/>
          </a:xfrm>
          <a:prstGeom prst="rect">
            <a:avLst/>
          </a:prstGeom>
          <a:noFill/>
          <a:ln/>
        </p:spPr>
        <p:txBody>
          <a:bodyPr wrap="square" lIns="0" tIns="0" rIns="0" bIns="0" rtlCol="0" anchor="ctr"/>
          <a:lstStyle/>
          <a:p>
            <a:pPr indent="0" marL="0">
              <a:buNone/>
            </a:pPr>
            <a:r>
              <a:rPr lang="en-US" sz="1550" b="1" dirty="0">
                <a:solidFill>
                  <a:srgbClr val="17233F"/>
                </a:solidFill>
                <a:latin typeface="Cambria" pitchFamily="34" charset="0"/>
                <a:ea typeface="Cambria" pitchFamily="34" charset="-122"/>
                <a:cs typeface="Cambria" pitchFamily="34" charset="-120"/>
              </a:rPr>
              <a:t>State-of-the-Art Accuracy</a:t>
            </a:r>
            <a:endParaRPr lang="en-US" sz="1550" dirty="0"/>
          </a:p>
        </p:txBody>
      </p:sp>
      <p:sp>
        <p:nvSpPr>
          <p:cNvPr id="13" name="Text 9"/>
          <p:cNvSpPr/>
          <p:nvPr/>
        </p:nvSpPr>
        <p:spPr>
          <a:xfrm>
            <a:off x="7406640" y="2377440"/>
            <a:ext cx="3840480" cy="1097280"/>
          </a:xfrm>
          <a:prstGeom prst="rect">
            <a:avLst/>
          </a:prstGeom>
          <a:noFill/>
          <a:ln/>
        </p:spPr>
        <p:txBody>
          <a:bodyPr wrap="square" lIns="0" tIns="0" rIns="0" bIns="0" rtlCol="0" anchor="t"/>
          <a:lstStyle/>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A 7-model ensemble with 93 engineered features and Optuna tuning, proven by walk-forward cross-validation with zero data leakage.</a:t>
            </a:r>
            <a:endParaRPr lang="en-US" sz="1150" dirty="0"/>
          </a:p>
        </p:txBody>
      </p:sp>
      <p:sp>
        <p:nvSpPr>
          <p:cNvPr id="14" name="Shape 10"/>
          <p:cNvSpPr/>
          <p:nvPr/>
        </p:nvSpPr>
        <p:spPr>
          <a:xfrm>
            <a:off x="548640" y="3931920"/>
            <a:ext cx="5257800" cy="1828800"/>
          </a:xfrm>
          <a:prstGeom prst="roundRect">
            <a:avLst>
              <a:gd name="adj" fmla="val 5000"/>
            </a:avLst>
          </a:prstGeom>
          <a:solidFill>
            <a:srgbClr val="F3F6FA"/>
          </a:solidFill>
          <a:ln/>
        </p:spPr>
      </p:sp>
      <p:sp>
        <p:nvSpPr>
          <p:cNvPr id="15" name="Shape 11"/>
          <p:cNvSpPr/>
          <p:nvPr/>
        </p:nvSpPr>
        <p:spPr>
          <a:xfrm>
            <a:off x="804672" y="4457700"/>
            <a:ext cx="777240" cy="777240"/>
          </a:xfrm>
          <a:prstGeom prst="ellipse">
            <a:avLst/>
          </a:prstGeom>
          <a:solidFill>
            <a:srgbClr val="0B1F3A"/>
          </a:solidFill>
          <a:ln/>
        </p:spPr>
      </p:sp>
      <p:pic>
        <p:nvPicPr>
          <p:cNvPr id="16" name="Image 2" descr="C:\Users\rupes\AppData\Local\Temp\claude\E--Projects-Gridalytics\b1299509-94b8-4995-bcba-996ea2dce8b4\scratchpad\icons\sitemap.png">    </p:cNvPr>
          <p:cNvPicPr>
            <a:picLocks noChangeAspect="1"/>
          </p:cNvPicPr>
          <p:nvPr/>
        </p:nvPicPr>
        <p:blipFill>
          <a:blip r:embed="rId3"/>
          <a:stretch>
            <a:fillRect/>
          </a:stretch>
        </p:blipFill>
        <p:spPr>
          <a:xfrm>
            <a:off x="998982" y="4652010"/>
            <a:ext cx="388620" cy="388620"/>
          </a:xfrm>
          <a:prstGeom prst="rect">
            <a:avLst/>
          </a:prstGeom>
        </p:spPr>
      </p:pic>
      <p:sp>
        <p:nvSpPr>
          <p:cNvPr id="17" name="Text 12"/>
          <p:cNvSpPr/>
          <p:nvPr/>
        </p:nvSpPr>
        <p:spPr>
          <a:xfrm>
            <a:off x="1783080" y="4114800"/>
            <a:ext cx="3840480" cy="411480"/>
          </a:xfrm>
          <a:prstGeom prst="rect">
            <a:avLst/>
          </a:prstGeom>
          <a:noFill/>
          <a:ln/>
        </p:spPr>
        <p:txBody>
          <a:bodyPr wrap="square" lIns="0" tIns="0" rIns="0" bIns="0" rtlCol="0" anchor="ctr"/>
          <a:lstStyle/>
          <a:p>
            <a:pPr indent="0" marL="0">
              <a:buNone/>
            </a:pPr>
            <a:r>
              <a:rPr lang="en-US" sz="1550" b="1" dirty="0">
                <a:solidFill>
                  <a:srgbClr val="17233F"/>
                </a:solidFill>
                <a:latin typeface="Cambria" pitchFamily="34" charset="0"/>
                <a:ea typeface="Cambria" pitchFamily="34" charset="-122"/>
                <a:cs typeface="Cambria" pitchFamily="34" charset="-120"/>
              </a:rPr>
              <a:t>Sub-Regional + Scenario Intelligence</a:t>
            </a:r>
            <a:endParaRPr lang="en-US" sz="1550" dirty="0"/>
          </a:p>
        </p:txBody>
      </p:sp>
      <p:sp>
        <p:nvSpPr>
          <p:cNvPr id="18" name="Text 13"/>
          <p:cNvSpPr/>
          <p:nvPr/>
        </p:nvSpPr>
        <p:spPr>
          <a:xfrm>
            <a:off x="1783080" y="4526280"/>
            <a:ext cx="3840480" cy="1097280"/>
          </a:xfrm>
          <a:prstGeom prst="rect">
            <a:avLst/>
          </a:prstGeom>
          <a:noFill/>
          <a:ln/>
        </p:spPr>
        <p:txBody>
          <a:bodyPr wrap="square" lIns="0" tIns="0" rIns="0" bIns="0" rtlCol="0" anchor="t"/>
          <a:lstStyle/>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Separate forecasts per DISCOM (BRPL, BYPL, NDPL, NDMC, MES) plus a what-if engine for heatwaves, festivals, cloud cover and air quality.</a:t>
            </a:r>
            <a:endParaRPr lang="en-US" sz="1150" dirty="0"/>
          </a:p>
        </p:txBody>
      </p:sp>
      <p:sp>
        <p:nvSpPr>
          <p:cNvPr id="19" name="Shape 14"/>
          <p:cNvSpPr/>
          <p:nvPr/>
        </p:nvSpPr>
        <p:spPr>
          <a:xfrm>
            <a:off x="6172200" y="3931920"/>
            <a:ext cx="5257800" cy="1828800"/>
          </a:xfrm>
          <a:prstGeom prst="roundRect">
            <a:avLst>
              <a:gd name="adj" fmla="val 5000"/>
            </a:avLst>
          </a:prstGeom>
          <a:solidFill>
            <a:srgbClr val="F3F6FA"/>
          </a:solidFill>
          <a:ln/>
        </p:spPr>
      </p:sp>
      <p:sp>
        <p:nvSpPr>
          <p:cNvPr id="20" name="Shape 15"/>
          <p:cNvSpPr/>
          <p:nvPr/>
        </p:nvSpPr>
        <p:spPr>
          <a:xfrm>
            <a:off x="6428232" y="4457700"/>
            <a:ext cx="777240" cy="777240"/>
          </a:xfrm>
          <a:prstGeom prst="ellipse">
            <a:avLst/>
          </a:prstGeom>
          <a:solidFill>
            <a:srgbClr val="0B1F3A"/>
          </a:solidFill>
          <a:ln/>
        </p:spPr>
      </p:sp>
      <p:pic>
        <p:nvPicPr>
          <p:cNvPr id="21" name="Image 3" descr="C:\Users\rupes\AppData\Local\Temp\claude\E--Projects-Gridalytics\b1299509-94b8-4995-bcba-996ea2dce8b4\scratchpad\icons\sync.png">    </p:cNvPr>
          <p:cNvPicPr>
            <a:picLocks noChangeAspect="1"/>
          </p:cNvPicPr>
          <p:nvPr/>
        </p:nvPicPr>
        <p:blipFill>
          <a:blip r:embed="rId4"/>
          <a:stretch>
            <a:fillRect/>
          </a:stretch>
        </p:blipFill>
        <p:spPr>
          <a:xfrm>
            <a:off x="6622542" y="4652010"/>
            <a:ext cx="388620" cy="388620"/>
          </a:xfrm>
          <a:prstGeom prst="rect">
            <a:avLst/>
          </a:prstGeom>
        </p:spPr>
      </p:pic>
      <p:sp>
        <p:nvSpPr>
          <p:cNvPr id="22" name="Text 16"/>
          <p:cNvSpPr/>
          <p:nvPr/>
        </p:nvSpPr>
        <p:spPr>
          <a:xfrm>
            <a:off x="7406640" y="4114800"/>
            <a:ext cx="3840480" cy="411480"/>
          </a:xfrm>
          <a:prstGeom prst="rect">
            <a:avLst/>
          </a:prstGeom>
          <a:noFill/>
          <a:ln/>
        </p:spPr>
        <p:txBody>
          <a:bodyPr wrap="square" lIns="0" tIns="0" rIns="0" bIns="0" rtlCol="0" anchor="ctr"/>
          <a:lstStyle/>
          <a:p>
            <a:pPr indent="0" marL="0">
              <a:buNone/>
            </a:pPr>
            <a:r>
              <a:rPr lang="en-US" sz="1550" b="1" dirty="0">
                <a:solidFill>
                  <a:srgbClr val="17233F"/>
                </a:solidFill>
                <a:latin typeface="Cambria" pitchFamily="34" charset="0"/>
                <a:ea typeface="Cambria" pitchFamily="34" charset="-122"/>
                <a:cs typeface="Cambria" pitchFamily="34" charset="-120"/>
              </a:rPr>
              <a:t>Production MLOps, Not a Lab Demo</a:t>
            </a:r>
            <a:endParaRPr lang="en-US" sz="1550" dirty="0"/>
          </a:p>
        </p:txBody>
      </p:sp>
      <p:sp>
        <p:nvSpPr>
          <p:cNvPr id="23" name="Text 17"/>
          <p:cNvSpPr/>
          <p:nvPr/>
        </p:nvSpPr>
        <p:spPr>
          <a:xfrm>
            <a:off x="7406640" y="4526280"/>
            <a:ext cx="3840480" cy="1097280"/>
          </a:xfrm>
          <a:prstGeom prst="rect">
            <a:avLst/>
          </a:prstGeom>
          <a:noFill/>
          <a:ln/>
        </p:spPr>
        <p:txBody>
          <a:bodyPr wrap="square" lIns="0" tIns="0" rIns="0" bIns="0" rtlCol="0" anchor="t"/>
          <a:lstStyle/>
          <a:p>
            <a:pPr indent="0" marL="0">
              <a:lnSpc>
                <a:spcPct val="110000"/>
              </a:lnSpc>
              <a:buNone/>
            </a:pPr>
            <a:r>
              <a:rPr lang="en-US" sz="1150" dirty="0">
                <a:solidFill>
                  <a:srgbClr val="5B6B82"/>
                </a:solidFill>
                <a:latin typeface="Calibri" pitchFamily="34" charset="0"/>
                <a:ea typeface="Calibri" pitchFamily="34" charset="-122"/>
                <a:cs typeface="Calibri" pitchFamily="34" charset="-120"/>
              </a:rPr>
              <a:t>Automated ingestion every 6 hours, weekly retraining, real-time drift detection — already deployed and continuously improving.</a:t>
            </a:r>
            <a:endParaRPr lang="en-US" sz="1150" dirty="0"/>
          </a:p>
        </p:txBody>
      </p:sp>
      <p:sp>
        <p:nvSpPr>
          <p:cNvPr id="25" name="Text 18"/>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PROVEN RESULTS</a:t>
            </a:r>
            <a:endParaRPr lang="en-US" sz="1200" dirty="0"/>
          </a:p>
        </p:txBody>
      </p:sp>
      <p:sp>
        <p:nvSpPr>
          <p:cNvPr id="3" name="Text 1"/>
          <p:cNvSpPr/>
          <p:nvPr/>
        </p:nvSpPr>
        <p:spPr>
          <a:xfrm>
            <a:off x="548640" y="68580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Proven, Not Hypothetical</a:t>
            </a:r>
            <a:endParaRPr lang="en-US" sz="3200" dirty="0"/>
          </a:p>
        </p:txBody>
      </p:sp>
      <p:sp>
        <p:nvSpPr>
          <p:cNvPr id="4" name="Shape 2"/>
          <p:cNvSpPr/>
          <p:nvPr/>
        </p:nvSpPr>
        <p:spPr>
          <a:xfrm>
            <a:off x="548640" y="1874520"/>
            <a:ext cx="2606040" cy="2468880"/>
          </a:xfrm>
          <a:prstGeom prst="roundRect">
            <a:avLst>
              <a:gd name="adj" fmla="val 4444"/>
            </a:avLst>
          </a:prstGeom>
          <a:solidFill>
            <a:srgbClr val="182F52"/>
          </a:solidFill>
          <a:ln/>
        </p:spPr>
      </p:sp>
      <p:sp>
        <p:nvSpPr>
          <p:cNvPr id="5" name="Text 3"/>
          <p:cNvSpPr/>
          <p:nvPr/>
        </p:nvSpPr>
        <p:spPr>
          <a:xfrm>
            <a:off x="548640" y="2194560"/>
            <a:ext cx="2606040" cy="914400"/>
          </a:xfrm>
          <a:prstGeom prst="rect">
            <a:avLst/>
          </a:prstGeom>
          <a:noFill/>
          <a:ln/>
        </p:spPr>
        <p:txBody>
          <a:bodyPr wrap="square" lIns="0" tIns="0" rIns="0" bIns="0" rtlCol="0" anchor="ctr"/>
          <a:lstStyle/>
          <a:p>
            <a:pPr algn="ctr" indent="0" marL="0">
              <a:buNone/>
            </a:pPr>
            <a:r>
              <a:rPr lang="en-US" sz="4000" b="1" dirty="0">
                <a:solidFill>
                  <a:srgbClr val="FFB627"/>
                </a:solidFill>
                <a:latin typeface="Cambria" pitchFamily="34" charset="0"/>
                <a:ea typeface="Cambria" pitchFamily="34" charset="-122"/>
                <a:cs typeface="Cambria" pitchFamily="34" charset="-120"/>
              </a:rPr>
              <a:t>0.18%</a:t>
            </a:r>
            <a:endParaRPr lang="en-US" sz="4000" dirty="0"/>
          </a:p>
        </p:txBody>
      </p:sp>
      <p:sp>
        <p:nvSpPr>
          <p:cNvPr id="6" name="Text 4"/>
          <p:cNvSpPr/>
          <p:nvPr/>
        </p:nvSpPr>
        <p:spPr>
          <a:xfrm>
            <a:off x="731520" y="3154680"/>
            <a:ext cx="2240280" cy="10515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MAPE at 5-minute resolution</a:t>
            </a:r>
            <a:endParaRPr lang="en-US" sz="1250" dirty="0"/>
          </a:p>
        </p:txBody>
      </p:sp>
      <p:sp>
        <p:nvSpPr>
          <p:cNvPr id="7" name="Shape 5"/>
          <p:cNvSpPr/>
          <p:nvPr/>
        </p:nvSpPr>
        <p:spPr>
          <a:xfrm>
            <a:off x="3383280" y="1874520"/>
            <a:ext cx="2606040" cy="2468880"/>
          </a:xfrm>
          <a:prstGeom prst="roundRect">
            <a:avLst>
              <a:gd name="adj" fmla="val 4444"/>
            </a:avLst>
          </a:prstGeom>
          <a:solidFill>
            <a:srgbClr val="182F52"/>
          </a:solidFill>
          <a:ln/>
        </p:spPr>
      </p:sp>
      <p:sp>
        <p:nvSpPr>
          <p:cNvPr id="8" name="Text 6"/>
          <p:cNvSpPr/>
          <p:nvPr/>
        </p:nvSpPr>
        <p:spPr>
          <a:xfrm>
            <a:off x="3383280" y="2194560"/>
            <a:ext cx="2606040" cy="914400"/>
          </a:xfrm>
          <a:prstGeom prst="rect">
            <a:avLst/>
          </a:prstGeom>
          <a:noFill/>
          <a:ln/>
        </p:spPr>
        <p:txBody>
          <a:bodyPr wrap="square" lIns="0" tIns="0" rIns="0" bIns="0" rtlCol="0" anchor="ctr"/>
          <a:lstStyle/>
          <a:p>
            <a:pPr algn="ctr" indent="0" marL="0">
              <a:buNone/>
            </a:pPr>
            <a:r>
              <a:rPr lang="en-US" sz="4000" b="1" dirty="0">
                <a:solidFill>
                  <a:srgbClr val="FFB627"/>
                </a:solidFill>
                <a:latin typeface="Cambria" pitchFamily="34" charset="0"/>
                <a:ea typeface="Cambria" pitchFamily="34" charset="-122"/>
                <a:cs typeface="Cambria" pitchFamily="34" charset="-120"/>
              </a:rPr>
              <a:t>0.50%</a:t>
            </a:r>
            <a:endParaRPr lang="en-US" sz="4000" dirty="0"/>
          </a:p>
        </p:txBody>
      </p:sp>
      <p:sp>
        <p:nvSpPr>
          <p:cNvPr id="9" name="Text 7"/>
          <p:cNvSpPr/>
          <p:nvPr/>
        </p:nvSpPr>
        <p:spPr>
          <a:xfrm>
            <a:off x="3566160" y="3154680"/>
            <a:ext cx="2240280" cy="10515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MAPE at hourly resolution (Optuna-tuned LightGBM)</a:t>
            </a:r>
            <a:endParaRPr lang="en-US" sz="1250" dirty="0"/>
          </a:p>
        </p:txBody>
      </p:sp>
      <p:sp>
        <p:nvSpPr>
          <p:cNvPr id="10" name="Shape 8"/>
          <p:cNvSpPr/>
          <p:nvPr/>
        </p:nvSpPr>
        <p:spPr>
          <a:xfrm>
            <a:off x="6217920" y="1874520"/>
            <a:ext cx="2606040" cy="2468880"/>
          </a:xfrm>
          <a:prstGeom prst="roundRect">
            <a:avLst>
              <a:gd name="adj" fmla="val 4444"/>
            </a:avLst>
          </a:prstGeom>
          <a:solidFill>
            <a:srgbClr val="182F52"/>
          </a:solidFill>
          <a:ln/>
        </p:spPr>
      </p:sp>
      <p:sp>
        <p:nvSpPr>
          <p:cNvPr id="11" name="Text 9"/>
          <p:cNvSpPr/>
          <p:nvPr/>
        </p:nvSpPr>
        <p:spPr>
          <a:xfrm>
            <a:off x="6217920" y="2194560"/>
            <a:ext cx="2606040" cy="914400"/>
          </a:xfrm>
          <a:prstGeom prst="rect">
            <a:avLst/>
          </a:prstGeom>
          <a:noFill/>
          <a:ln/>
        </p:spPr>
        <p:txBody>
          <a:bodyPr wrap="square" lIns="0" tIns="0" rIns="0" bIns="0" rtlCol="0" anchor="ctr"/>
          <a:lstStyle/>
          <a:p>
            <a:pPr algn="ctr" indent="0" marL="0">
              <a:buNone/>
            </a:pPr>
            <a:r>
              <a:rPr lang="en-US" sz="4000" b="1" dirty="0">
                <a:solidFill>
                  <a:srgbClr val="FFB627"/>
                </a:solidFill>
                <a:latin typeface="Cambria" pitchFamily="34" charset="0"/>
                <a:ea typeface="Cambria" pitchFamily="34" charset="-122"/>
                <a:cs typeface="Cambria" pitchFamily="34" charset="-120"/>
              </a:rPr>
              <a:t>0.97%</a:t>
            </a:r>
            <a:endParaRPr lang="en-US" sz="4000" dirty="0"/>
          </a:p>
        </p:txBody>
      </p:sp>
      <p:sp>
        <p:nvSpPr>
          <p:cNvPr id="12" name="Text 10"/>
          <p:cNvSpPr/>
          <p:nvPr/>
        </p:nvSpPr>
        <p:spPr>
          <a:xfrm>
            <a:off x="6400800" y="3154680"/>
            <a:ext cx="2240280" cy="10515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Live rolling average MAPE over 29 days</a:t>
            </a:r>
            <a:endParaRPr lang="en-US" sz="1250" dirty="0"/>
          </a:p>
        </p:txBody>
      </p:sp>
      <p:sp>
        <p:nvSpPr>
          <p:cNvPr id="13" name="Shape 11"/>
          <p:cNvSpPr/>
          <p:nvPr/>
        </p:nvSpPr>
        <p:spPr>
          <a:xfrm>
            <a:off x="9052560" y="1874520"/>
            <a:ext cx="2606040" cy="2468880"/>
          </a:xfrm>
          <a:prstGeom prst="roundRect">
            <a:avLst>
              <a:gd name="adj" fmla="val 4444"/>
            </a:avLst>
          </a:prstGeom>
          <a:solidFill>
            <a:srgbClr val="182F52"/>
          </a:solidFill>
          <a:ln/>
        </p:spPr>
      </p:sp>
      <p:sp>
        <p:nvSpPr>
          <p:cNvPr id="14" name="Text 12"/>
          <p:cNvSpPr/>
          <p:nvPr/>
        </p:nvSpPr>
        <p:spPr>
          <a:xfrm>
            <a:off x="9052560" y="2194560"/>
            <a:ext cx="2606040" cy="914400"/>
          </a:xfrm>
          <a:prstGeom prst="rect">
            <a:avLst/>
          </a:prstGeom>
          <a:noFill/>
          <a:ln/>
        </p:spPr>
        <p:txBody>
          <a:bodyPr wrap="square" lIns="0" tIns="0" rIns="0" bIns="0" rtlCol="0" anchor="ctr"/>
          <a:lstStyle/>
          <a:p>
            <a:pPr algn="ctr" indent="0" marL="0">
              <a:buNone/>
            </a:pPr>
            <a:r>
              <a:rPr lang="en-US" sz="4000" b="1" dirty="0">
                <a:solidFill>
                  <a:srgbClr val="FFB627"/>
                </a:solidFill>
                <a:latin typeface="Cambria" pitchFamily="34" charset="0"/>
                <a:ea typeface="Cambria" pitchFamily="34" charset="-122"/>
                <a:cs typeface="Cambria" pitchFamily="34" charset="-120"/>
              </a:rPr>
              <a:t>137×</a:t>
            </a:r>
            <a:endParaRPr lang="en-US" sz="4000" dirty="0"/>
          </a:p>
        </p:txBody>
      </p:sp>
      <p:sp>
        <p:nvSpPr>
          <p:cNvPr id="15" name="Text 13"/>
          <p:cNvSpPr/>
          <p:nvPr/>
        </p:nvSpPr>
        <p:spPr>
          <a:xfrm>
            <a:off x="9235440" y="3154680"/>
            <a:ext cx="2240280" cy="1051560"/>
          </a:xfrm>
          <a:prstGeom prst="rect">
            <a:avLst/>
          </a:prstGeom>
          <a:noFill/>
          <a:ln/>
        </p:spPr>
        <p:txBody>
          <a:bodyPr wrap="square" lIns="0" tIns="0" rIns="0" bIns="0" rtlCol="0" anchor="t"/>
          <a:lstStyle/>
          <a:p>
            <a:pPr algn="ctr" indent="0" marL="0">
              <a:buNone/>
            </a:pPr>
            <a:r>
              <a:rPr lang="en-US" sz="1250" dirty="0">
                <a:solidFill>
                  <a:srgbClr val="CADCFC"/>
                </a:solidFill>
                <a:latin typeface="Calibri" pitchFamily="34" charset="0"/>
                <a:ea typeface="Calibri" pitchFamily="34" charset="-122"/>
                <a:cs typeface="Calibri" pitchFamily="34" charset="-120"/>
              </a:rPr>
              <a:t>More accurate than the previous baseline system</a:t>
            </a:r>
            <a:endParaRPr lang="en-US" sz="1250" dirty="0"/>
          </a:p>
        </p:txBody>
      </p:sp>
      <p:sp>
        <p:nvSpPr>
          <p:cNvPr id="16" name="Shape 14"/>
          <p:cNvSpPr/>
          <p:nvPr/>
        </p:nvSpPr>
        <p:spPr>
          <a:xfrm>
            <a:off x="548640" y="4709160"/>
            <a:ext cx="11064240" cy="0"/>
          </a:xfrm>
          <a:prstGeom prst="line">
            <a:avLst/>
          </a:prstGeom>
          <a:noFill/>
          <a:ln w="12700">
            <a:solidFill>
              <a:srgbClr val="2A4066"/>
            </a:solidFill>
            <a:prstDash val="solid"/>
          </a:ln>
        </p:spPr>
      </p:sp>
      <p:sp>
        <p:nvSpPr>
          <p:cNvPr id="17" name="Text 15"/>
          <p:cNvSpPr/>
          <p:nvPr/>
        </p:nvSpPr>
        <p:spPr>
          <a:xfrm>
            <a:off x="548640" y="4892040"/>
            <a:ext cx="11064240" cy="640080"/>
          </a:xfrm>
          <a:prstGeom prst="rect">
            <a:avLst/>
          </a:prstGeom>
          <a:noFill/>
          <a:ln/>
        </p:spPr>
        <p:txBody>
          <a:bodyPr wrap="square" lIns="0" tIns="0" rIns="0" bIns="0" rtlCol="0" anchor="ctr"/>
          <a:lstStyle/>
          <a:p>
            <a:pPr indent="0" marL="0">
              <a:buNone/>
            </a:pPr>
            <a:r>
              <a:rPr lang="en-US" sz="1300" i="1" dirty="0">
                <a:solidFill>
                  <a:srgbClr val="A9BBDC"/>
                </a:solidFill>
                <a:latin typeface="Calibri" pitchFamily="34" charset="0"/>
                <a:ea typeface="Calibri" pitchFamily="34" charset="-122"/>
                <a:cs typeface="Calibri" pitchFamily="34" charset="-120"/>
              </a:rPr>
              <a:t>Validated via walk-forward cross-validation (10–12 folds) with zero data leakage, on 5+ years / 252,000+ rows of real Delhi SLDC data. 49× smaller models than the previous baseline.</a:t>
            </a:r>
            <a:endParaRPr lang="en-US" sz="1300" dirty="0"/>
          </a:p>
        </p:txBody>
      </p:sp>
      <p:sp>
        <p:nvSpPr>
          <p:cNvPr id="19" name="Text 16"/>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TECH STACK</a:t>
            </a:r>
            <a:endParaRPr lang="en-US" sz="1200" dirty="0"/>
          </a:p>
        </p:txBody>
      </p:sp>
      <p:sp>
        <p:nvSpPr>
          <p:cNvPr id="3" name="Text 1"/>
          <p:cNvSpPr/>
          <p:nvPr/>
        </p:nvSpPr>
        <p:spPr>
          <a:xfrm>
            <a:off x="548640" y="685800"/>
            <a:ext cx="1005840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Built and Already Running</a:t>
            </a:r>
            <a:endParaRPr lang="en-US" sz="3200" dirty="0"/>
          </a:p>
        </p:txBody>
      </p:sp>
      <p:sp>
        <p:nvSpPr>
          <p:cNvPr id="4" name="Shape 2"/>
          <p:cNvSpPr/>
          <p:nvPr/>
        </p:nvSpPr>
        <p:spPr>
          <a:xfrm>
            <a:off x="548640" y="1783080"/>
            <a:ext cx="3566160" cy="1417320"/>
          </a:xfrm>
          <a:prstGeom prst="roundRect">
            <a:avLst>
              <a:gd name="adj" fmla="val 6452"/>
            </a:avLst>
          </a:prstGeom>
          <a:solidFill>
            <a:srgbClr val="F3F6FA"/>
          </a:solidFill>
          <a:ln/>
        </p:spPr>
      </p:sp>
      <p:sp>
        <p:nvSpPr>
          <p:cNvPr id="5" name="Shape 3"/>
          <p:cNvSpPr/>
          <p:nvPr/>
        </p:nvSpPr>
        <p:spPr>
          <a:xfrm>
            <a:off x="749808" y="2162556"/>
            <a:ext cx="658368" cy="658368"/>
          </a:xfrm>
          <a:prstGeom prst="ellipse">
            <a:avLst/>
          </a:prstGeom>
          <a:solidFill>
            <a:srgbClr val="0B1F3A"/>
          </a:solidFill>
          <a:ln/>
        </p:spPr>
      </p:sp>
      <p:pic>
        <p:nvPicPr>
          <p:cNvPr id="6" name="Image 0" descr="C:\Users\rupes\AppData\Local\Temp\claude\E--Projects-Gridalytics\b1299509-94b8-4995-bcba-996ea2dce8b4\scratchpad\icons\desktop.png">    </p:cNvPr>
          <p:cNvPicPr>
            <a:picLocks noChangeAspect="1"/>
          </p:cNvPicPr>
          <p:nvPr/>
        </p:nvPicPr>
        <p:blipFill>
          <a:blip r:embed="rId1"/>
          <a:stretch>
            <a:fillRect/>
          </a:stretch>
        </p:blipFill>
        <p:spPr>
          <a:xfrm>
            <a:off x="914400" y="2327148"/>
            <a:ext cx="329184" cy="329184"/>
          </a:xfrm>
          <a:prstGeom prst="rect">
            <a:avLst/>
          </a:prstGeom>
        </p:spPr>
      </p:pic>
      <p:sp>
        <p:nvSpPr>
          <p:cNvPr id="7" name="Text 4"/>
          <p:cNvSpPr/>
          <p:nvPr/>
        </p:nvSpPr>
        <p:spPr>
          <a:xfrm>
            <a:off x="1554480" y="1929384"/>
            <a:ext cx="2423160" cy="320040"/>
          </a:xfrm>
          <a:prstGeom prst="rect">
            <a:avLst/>
          </a:prstGeom>
          <a:noFill/>
          <a:ln/>
        </p:spPr>
        <p:txBody>
          <a:bodyPr wrap="square" lIns="0" tIns="0" rIns="0" bIns="0" rtlCol="0" anchor="ctr"/>
          <a:lstStyle/>
          <a:p>
            <a:pPr indent="0" marL="0">
              <a:buNone/>
            </a:pPr>
            <a:r>
              <a:rPr lang="en-US" sz="1400" b="1" dirty="0">
                <a:solidFill>
                  <a:srgbClr val="17233F"/>
                </a:solidFill>
                <a:latin typeface="Cambria" pitchFamily="34" charset="0"/>
                <a:ea typeface="Cambria" pitchFamily="34" charset="-122"/>
                <a:cs typeface="Cambria" pitchFamily="34" charset="-120"/>
              </a:rPr>
              <a:t>Frontend</a:t>
            </a:r>
            <a:endParaRPr lang="en-US" sz="1400" dirty="0"/>
          </a:p>
        </p:txBody>
      </p:sp>
      <p:sp>
        <p:nvSpPr>
          <p:cNvPr id="8" name="Text 5"/>
          <p:cNvSpPr/>
          <p:nvPr/>
        </p:nvSpPr>
        <p:spPr>
          <a:xfrm>
            <a:off x="1554480" y="2258568"/>
            <a:ext cx="2423160" cy="822960"/>
          </a:xfrm>
          <a:prstGeom prst="rect">
            <a:avLst/>
          </a:prstGeom>
          <a:noFill/>
          <a:ln/>
        </p:spPr>
        <p:txBody>
          <a:bodyPr wrap="square" lIns="0" tIns="0" rIns="0" bIns="0" rtlCol="0" anchor="t"/>
          <a:lstStyle/>
          <a:p>
            <a:pPr indent="0" marL="0">
              <a:lnSpc>
                <a:spcPct val="108000"/>
              </a:lnSpc>
              <a:buNone/>
            </a:pPr>
            <a:r>
              <a:rPr lang="en-US" sz="1050" dirty="0">
                <a:solidFill>
                  <a:srgbClr val="5B6B82"/>
                </a:solidFill>
                <a:latin typeface="Calibri" pitchFamily="34" charset="0"/>
                <a:ea typeface="Calibri" pitchFamily="34" charset="-122"/>
                <a:cs typeface="Calibri" pitchFamily="34" charset="-120"/>
              </a:rPr>
              <a:t>Next.js 14, Tailwind CSS, Recharts, shadcn/ui — 10-page live dashboard</a:t>
            </a:r>
            <a:endParaRPr lang="en-US" sz="1050" dirty="0"/>
          </a:p>
        </p:txBody>
      </p:sp>
      <p:sp>
        <p:nvSpPr>
          <p:cNvPr id="9" name="Shape 6"/>
          <p:cNvSpPr/>
          <p:nvPr/>
        </p:nvSpPr>
        <p:spPr>
          <a:xfrm>
            <a:off x="4370832" y="1783080"/>
            <a:ext cx="3566160" cy="1417320"/>
          </a:xfrm>
          <a:prstGeom prst="roundRect">
            <a:avLst>
              <a:gd name="adj" fmla="val 6452"/>
            </a:avLst>
          </a:prstGeom>
          <a:solidFill>
            <a:srgbClr val="F3F6FA"/>
          </a:solidFill>
          <a:ln/>
        </p:spPr>
      </p:sp>
      <p:sp>
        <p:nvSpPr>
          <p:cNvPr id="10" name="Shape 7"/>
          <p:cNvSpPr/>
          <p:nvPr/>
        </p:nvSpPr>
        <p:spPr>
          <a:xfrm>
            <a:off x="4572000" y="2162556"/>
            <a:ext cx="658368" cy="658368"/>
          </a:xfrm>
          <a:prstGeom prst="ellipse">
            <a:avLst/>
          </a:prstGeom>
          <a:solidFill>
            <a:srgbClr val="0B1F3A"/>
          </a:solidFill>
          <a:ln/>
        </p:spPr>
      </p:sp>
      <p:pic>
        <p:nvPicPr>
          <p:cNvPr id="11" name="Image 1" descr="C:\Users\rupes\AppData\Local\Temp\claude\E--Projects-Gridalytics\b1299509-94b8-4995-bcba-996ea2dce8b4\scratchpad\icons\server.png">    </p:cNvPr>
          <p:cNvPicPr>
            <a:picLocks noChangeAspect="1"/>
          </p:cNvPicPr>
          <p:nvPr/>
        </p:nvPicPr>
        <p:blipFill>
          <a:blip r:embed="rId2"/>
          <a:stretch>
            <a:fillRect/>
          </a:stretch>
        </p:blipFill>
        <p:spPr>
          <a:xfrm>
            <a:off x="4736592" y="2327148"/>
            <a:ext cx="329184" cy="329184"/>
          </a:xfrm>
          <a:prstGeom prst="rect">
            <a:avLst/>
          </a:prstGeom>
        </p:spPr>
      </p:pic>
      <p:sp>
        <p:nvSpPr>
          <p:cNvPr id="12" name="Text 8"/>
          <p:cNvSpPr/>
          <p:nvPr/>
        </p:nvSpPr>
        <p:spPr>
          <a:xfrm>
            <a:off x="5376672" y="1929384"/>
            <a:ext cx="2423160" cy="320040"/>
          </a:xfrm>
          <a:prstGeom prst="rect">
            <a:avLst/>
          </a:prstGeom>
          <a:noFill/>
          <a:ln/>
        </p:spPr>
        <p:txBody>
          <a:bodyPr wrap="square" lIns="0" tIns="0" rIns="0" bIns="0" rtlCol="0" anchor="ctr"/>
          <a:lstStyle/>
          <a:p>
            <a:pPr indent="0" marL="0">
              <a:buNone/>
            </a:pPr>
            <a:r>
              <a:rPr lang="en-US" sz="1400" b="1" dirty="0">
                <a:solidFill>
                  <a:srgbClr val="17233F"/>
                </a:solidFill>
                <a:latin typeface="Cambria" pitchFamily="34" charset="0"/>
                <a:ea typeface="Cambria" pitchFamily="34" charset="-122"/>
                <a:cs typeface="Cambria" pitchFamily="34" charset="-120"/>
              </a:rPr>
              <a:t>Backend</a:t>
            </a:r>
            <a:endParaRPr lang="en-US" sz="1400" dirty="0"/>
          </a:p>
        </p:txBody>
      </p:sp>
      <p:sp>
        <p:nvSpPr>
          <p:cNvPr id="13" name="Text 9"/>
          <p:cNvSpPr/>
          <p:nvPr/>
        </p:nvSpPr>
        <p:spPr>
          <a:xfrm>
            <a:off x="5376672" y="2258568"/>
            <a:ext cx="2423160" cy="822960"/>
          </a:xfrm>
          <a:prstGeom prst="rect">
            <a:avLst/>
          </a:prstGeom>
          <a:noFill/>
          <a:ln/>
        </p:spPr>
        <p:txBody>
          <a:bodyPr wrap="square" lIns="0" tIns="0" rIns="0" bIns="0" rtlCol="0" anchor="t"/>
          <a:lstStyle/>
          <a:p>
            <a:pPr indent="0" marL="0">
              <a:lnSpc>
                <a:spcPct val="108000"/>
              </a:lnSpc>
              <a:buNone/>
            </a:pPr>
            <a:r>
              <a:rPr lang="en-US" sz="1050" dirty="0">
                <a:solidFill>
                  <a:srgbClr val="5B6B82"/>
                </a:solidFill>
                <a:latin typeface="Calibri" pitchFamily="34" charset="0"/>
                <a:ea typeface="Calibri" pitchFamily="34" charset="-122"/>
                <a:cs typeface="Calibri" pitchFamily="34" charset="-120"/>
              </a:rPr>
              <a:t>FastAPI, SQLAlchemy, JWT auth — 27 REST endpoints</a:t>
            </a:r>
            <a:endParaRPr lang="en-US" sz="1050" dirty="0"/>
          </a:p>
        </p:txBody>
      </p:sp>
      <p:sp>
        <p:nvSpPr>
          <p:cNvPr id="14" name="Shape 10"/>
          <p:cNvSpPr/>
          <p:nvPr/>
        </p:nvSpPr>
        <p:spPr>
          <a:xfrm>
            <a:off x="8193024" y="1783080"/>
            <a:ext cx="3566160" cy="1417320"/>
          </a:xfrm>
          <a:prstGeom prst="roundRect">
            <a:avLst>
              <a:gd name="adj" fmla="val 6452"/>
            </a:avLst>
          </a:prstGeom>
          <a:solidFill>
            <a:srgbClr val="F3F6FA"/>
          </a:solidFill>
          <a:ln/>
        </p:spPr>
      </p:sp>
      <p:sp>
        <p:nvSpPr>
          <p:cNvPr id="15" name="Shape 11"/>
          <p:cNvSpPr/>
          <p:nvPr/>
        </p:nvSpPr>
        <p:spPr>
          <a:xfrm>
            <a:off x="8394192" y="2162556"/>
            <a:ext cx="658368" cy="658368"/>
          </a:xfrm>
          <a:prstGeom prst="ellipse">
            <a:avLst/>
          </a:prstGeom>
          <a:solidFill>
            <a:srgbClr val="0B1F3A"/>
          </a:solidFill>
          <a:ln/>
        </p:spPr>
      </p:sp>
      <p:pic>
        <p:nvPicPr>
          <p:cNvPr id="16" name="Image 2" descr="C:\Users\rupes\AppData\Local\Temp\claude\E--Projects-Gridalytics\b1299509-94b8-4995-bcba-996ea2dce8b4\scratchpad\icons\brain.png">    </p:cNvPr>
          <p:cNvPicPr>
            <a:picLocks noChangeAspect="1"/>
          </p:cNvPicPr>
          <p:nvPr/>
        </p:nvPicPr>
        <p:blipFill>
          <a:blip r:embed="rId3"/>
          <a:stretch>
            <a:fillRect/>
          </a:stretch>
        </p:blipFill>
        <p:spPr>
          <a:xfrm>
            <a:off x="8558784" y="2327148"/>
            <a:ext cx="329184" cy="329184"/>
          </a:xfrm>
          <a:prstGeom prst="rect">
            <a:avLst/>
          </a:prstGeom>
        </p:spPr>
      </p:pic>
      <p:sp>
        <p:nvSpPr>
          <p:cNvPr id="17" name="Text 12"/>
          <p:cNvSpPr/>
          <p:nvPr/>
        </p:nvSpPr>
        <p:spPr>
          <a:xfrm>
            <a:off x="9198864" y="1929384"/>
            <a:ext cx="2423160" cy="320040"/>
          </a:xfrm>
          <a:prstGeom prst="rect">
            <a:avLst/>
          </a:prstGeom>
          <a:noFill/>
          <a:ln/>
        </p:spPr>
        <p:txBody>
          <a:bodyPr wrap="square" lIns="0" tIns="0" rIns="0" bIns="0" rtlCol="0" anchor="ctr"/>
          <a:lstStyle/>
          <a:p>
            <a:pPr indent="0" marL="0">
              <a:buNone/>
            </a:pPr>
            <a:r>
              <a:rPr lang="en-US" sz="1400" b="1" dirty="0">
                <a:solidFill>
                  <a:srgbClr val="17233F"/>
                </a:solidFill>
                <a:latin typeface="Cambria" pitchFamily="34" charset="0"/>
                <a:ea typeface="Cambria" pitchFamily="34" charset="-122"/>
                <a:cs typeface="Cambria" pitchFamily="34" charset="-120"/>
              </a:rPr>
              <a:t>Machine Learning</a:t>
            </a:r>
            <a:endParaRPr lang="en-US" sz="1400" dirty="0"/>
          </a:p>
        </p:txBody>
      </p:sp>
      <p:sp>
        <p:nvSpPr>
          <p:cNvPr id="18" name="Text 13"/>
          <p:cNvSpPr/>
          <p:nvPr/>
        </p:nvSpPr>
        <p:spPr>
          <a:xfrm>
            <a:off x="9198864" y="2258568"/>
            <a:ext cx="2423160" cy="822960"/>
          </a:xfrm>
          <a:prstGeom prst="rect">
            <a:avLst/>
          </a:prstGeom>
          <a:noFill/>
          <a:ln/>
        </p:spPr>
        <p:txBody>
          <a:bodyPr wrap="square" lIns="0" tIns="0" rIns="0" bIns="0" rtlCol="0" anchor="t"/>
          <a:lstStyle/>
          <a:p>
            <a:pPr indent="0" marL="0">
              <a:lnSpc>
                <a:spcPct val="108000"/>
              </a:lnSpc>
              <a:buNone/>
            </a:pPr>
            <a:r>
              <a:rPr lang="en-US" sz="1050" dirty="0">
                <a:solidFill>
                  <a:srgbClr val="5B6B82"/>
                </a:solidFill>
                <a:latin typeface="Calibri" pitchFamily="34" charset="0"/>
                <a:ea typeface="Calibri" pitchFamily="34" charset="-122"/>
                <a:cs typeface="Calibri" pitchFamily="34" charset="-120"/>
              </a:rPr>
              <a:t>LightGBM, XGBoost, PyTorch BiLSTM, SARIMAX, NeuralProphet — 7 models, 93 features</a:t>
            </a:r>
            <a:endParaRPr lang="en-US" sz="1050" dirty="0"/>
          </a:p>
        </p:txBody>
      </p:sp>
      <p:sp>
        <p:nvSpPr>
          <p:cNvPr id="19" name="Shape 14"/>
          <p:cNvSpPr/>
          <p:nvPr/>
        </p:nvSpPr>
        <p:spPr>
          <a:xfrm>
            <a:off x="548640" y="3401568"/>
            <a:ext cx="3566160" cy="1417320"/>
          </a:xfrm>
          <a:prstGeom prst="roundRect">
            <a:avLst>
              <a:gd name="adj" fmla="val 6452"/>
            </a:avLst>
          </a:prstGeom>
          <a:solidFill>
            <a:srgbClr val="F3F6FA"/>
          </a:solidFill>
          <a:ln/>
        </p:spPr>
      </p:sp>
      <p:sp>
        <p:nvSpPr>
          <p:cNvPr id="20" name="Shape 15"/>
          <p:cNvSpPr/>
          <p:nvPr/>
        </p:nvSpPr>
        <p:spPr>
          <a:xfrm>
            <a:off x="749808" y="3781044"/>
            <a:ext cx="658368" cy="658368"/>
          </a:xfrm>
          <a:prstGeom prst="ellipse">
            <a:avLst/>
          </a:prstGeom>
          <a:solidFill>
            <a:srgbClr val="0B1F3A"/>
          </a:solidFill>
          <a:ln/>
        </p:spPr>
      </p:sp>
      <p:pic>
        <p:nvPicPr>
          <p:cNvPr id="21" name="Image 3" descr="C:\Users\rupes\AppData\Local\Temp\claude\E--Projects-Gridalytics\b1299509-94b8-4995-bcba-996ea2dce8b4\scratchpad\icons\database.png">    </p:cNvPr>
          <p:cNvPicPr>
            <a:picLocks noChangeAspect="1"/>
          </p:cNvPicPr>
          <p:nvPr/>
        </p:nvPicPr>
        <p:blipFill>
          <a:blip r:embed="rId4"/>
          <a:stretch>
            <a:fillRect/>
          </a:stretch>
        </p:blipFill>
        <p:spPr>
          <a:xfrm>
            <a:off x="914400" y="3945636"/>
            <a:ext cx="329184" cy="329184"/>
          </a:xfrm>
          <a:prstGeom prst="rect">
            <a:avLst/>
          </a:prstGeom>
        </p:spPr>
      </p:pic>
      <p:sp>
        <p:nvSpPr>
          <p:cNvPr id="22" name="Text 16"/>
          <p:cNvSpPr/>
          <p:nvPr/>
        </p:nvSpPr>
        <p:spPr>
          <a:xfrm>
            <a:off x="1554480" y="3547872"/>
            <a:ext cx="2423160" cy="320040"/>
          </a:xfrm>
          <a:prstGeom prst="rect">
            <a:avLst/>
          </a:prstGeom>
          <a:noFill/>
          <a:ln/>
        </p:spPr>
        <p:txBody>
          <a:bodyPr wrap="square" lIns="0" tIns="0" rIns="0" bIns="0" rtlCol="0" anchor="ctr"/>
          <a:lstStyle/>
          <a:p>
            <a:pPr indent="0" marL="0">
              <a:buNone/>
            </a:pPr>
            <a:r>
              <a:rPr lang="en-US" sz="1400" b="1" dirty="0">
                <a:solidFill>
                  <a:srgbClr val="17233F"/>
                </a:solidFill>
                <a:latin typeface="Cambria" pitchFamily="34" charset="0"/>
                <a:ea typeface="Cambria" pitchFamily="34" charset="-122"/>
                <a:cs typeface="Cambria" pitchFamily="34" charset="-120"/>
              </a:rPr>
              <a:t>Data</a:t>
            </a:r>
            <a:endParaRPr lang="en-US" sz="1400" dirty="0"/>
          </a:p>
        </p:txBody>
      </p:sp>
      <p:sp>
        <p:nvSpPr>
          <p:cNvPr id="23" name="Text 17"/>
          <p:cNvSpPr/>
          <p:nvPr/>
        </p:nvSpPr>
        <p:spPr>
          <a:xfrm>
            <a:off x="1554480" y="3877056"/>
            <a:ext cx="2423160" cy="822960"/>
          </a:xfrm>
          <a:prstGeom prst="rect">
            <a:avLst/>
          </a:prstGeom>
          <a:noFill/>
          <a:ln/>
        </p:spPr>
        <p:txBody>
          <a:bodyPr wrap="square" lIns="0" tIns="0" rIns="0" bIns="0" rtlCol="0" anchor="t"/>
          <a:lstStyle/>
          <a:p>
            <a:pPr indent="0" marL="0">
              <a:lnSpc>
                <a:spcPct val="108000"/>
              </a:lnSpc>
              <a:buNone/>
            </a:pPr>
            <a:r>
              <a:rPr lang="en-US" sz="1050" dirty="0">
                <a:solidFill>
                  <a:srgbClr val="5B6B82"/>
                </a:solidFill>
                <a:latin typeface="Calibri" pitchFamily="34" charset="0"/>
                <a:ea typeface="Calibri" pitchFamily="34" charset="-122"/>
                <a:cs typeface="Calibri" pitchFamily="34" charset="-120"/>
              </a:rPr>
              <a:t>Supabase (PostgreSQL), APScheduler, BeautifulSoup/httpx — live scraping pipeline</a:t>
            </a:r>
            <a:endParaRPr lang="en-US" sz="1050" dirty="0"/>
          </a:p>
        </p:txBody>
      </p:sp>
      <p:sp>
        <p:nvSpPr>
          <p:cNvPr id="24" name="Shape 18"/>
          <p:cNvSpPr/>
          <p:nvPr/>
        </p:nvSpPr>
        <p:spPr>
          <a:xfrm>
            <a:off x="4370832" y="3401568"/>
            <a:ext cx="3566160" cy="1417320"/>
          </a:xfrm>
          <a:prstGeom prst="roundRect">
            <a:avLst>
              <a:gd name="adj" fmla="val 6452"/>
            </a:avLst>
          </a:prstGeom>
          <a:solidFill>
            <a:srgbClr val="F3F6FA"/>
          </a:solidFill>
          <a:ln/>
        </p:spPr>
      </p:sp>
      <p:sp>
        <p:nvSpPr>
          <p:cNvPr id="25" name="Shape 19"/>
          <p:cNvSpPr/>
          <p:nvPr/>
        </p:nvSpPr>
        <p:spPr>
          <a:xfrm>
            <a:off x="4572000" y="3781044"/>
            <a:ext cx="658368" cy="658368"/>
          </a:xfrm>
          <a:prstGeom prst="ellipse">
            <a:avLst/>
          </a:prstGeom>
          <a:solidFill>
            <a:srgbClr val="0B1F3A"/>
          </a:solidFill>
          <a:ln/>
        </p:spPr>
      </p:sp>
      <p:pic>
        <p:nvPicPr>
          <p:cNvPr id="26" name="Image 4" descr="C:\Users\rupes\AppData\Local\Temp\claude\E--Projects-Gridalytics\b1299509-94b8-4995-bcba-996ea2dce8b4\scratchpad\icons\cogs.png">    </p:cNvPr>
          <p:cNvPicPr>
            <a:picLocks noChangeAspect="1"/>
          </p:cNvPicPr>
          <p:nvPr/>
        </p:nvPicPr>
        <p:blipFill>
          <a:blip r:embed="rId5"/>
          <a:stretch>
            <a:fillRect/>
          </a:stretch>
        </p:blipFill>
        <p:spPr>
          <a:xfrm>
            <a:off x="4736592" y="3945636"/>
            <a:ext cx="329184" cy="329184"/>
          </a:xfrm>
          <a:prstGeom prst="rect">
            <a:avLst/>
          </a:prstGeom>
        </p:spPr>
      </p:pic>
      <p:sp>
        <p:nvSpPr>
          <p:cNvPr id="27" name="Text 20"/>
          <p:cNvSpPr/>
          <p:nvPr/>
        </p:nvSpPr>
        <p:spPr>
          <a:xfrm>
            <a:off x="5376672" y="3547872"/>
            <a:ext cx="2423160" cy="320040"/>
          </a:xfrm>
          <a:prstGeom prst="rect">
            <a:avLst/>
          </a:prstGeom>
          <a:noFill/>
          <a:ln/>
        </p:spPr>
        <p:txBody>
          <a:bodyPr wrap="square" lIns="0" tIns="0" rIns="0" bIns="0" rtlCol="0" anchor="ctr"/>
          <a:lstStyle/>
          <a:p>
            <a:pPr indent="0" marL="0">
              <a:buNone/>
            </a:pPr>
            <a:r>
              <a:rPr lang="en-US" sz="1400" b="1" dirty="0">
                <a:solidFill>
                  <a:srgbClr val="17233F"/>
                </a:solidFill>
                <a:latin typeface="Cambria" pitchFamily="34" charset="0"/>
                <a:ea typeface="Cambria" pitchFamily="34" charset="-122"/>
                <a:cs typeface="Cambria" pitchFamily="34" charset="-120"/>
              </a:rPr>
              <a:t>MLOps</a:t>
            </a:r>
            <a:endParaRPr lang="en-US" sz="1400" dirty="0"/>
          </a:p>
        </p:txBody>
      </p:sp>
      <p:sp>
        <p:nvSpPr>
          <p:cNvPr id="28" name="Text 21"/>
          <p:cNvSpPr/>
          <p:nvPr/>
        </p:nvSpPr>
        <p:spPr>
          <a:xfrm>
            <a:off x="5376672" y="3877056"/>
            <a:ext cx="2423160" cy="822960"/>
          </a:xfrm>
          <a:prstGeom prst="rect">
            <a:avLst/>
          </a:prstGeom>
          <a:noFill/>
          <a:ln/>
        </p:spPr>
        <p:txBody>
          <a:bodyPr wrap="square" lIns="0" tIns="0" rIns="0" bIns="0" rtlCol="0" anchor="t"/>
          <a:lstStyle/>
          <a:p>
            <a:pPr indent="0" marL="0">
              <a:lnSpc>
                <a:spcPct val="108000"/>
              </a:lnSpc>
              <a:buNone/>
            </a:pPr>
            <a:r>
              <a:rPr lang="en-US" sz="1050" dirty="0">
                <a:solidFill>
                  <a:srgbClr val="5B6B82"/>
                </a:solidFill>
                <a:latin typeface="Calibri" pitchFamily="34" charset="0"/>
                <a:ea typeface="Calibri" pitchFamily="34" charset="-122"/>
                <a:cs typeface="Calibri" pitchFamily="34" charset="-120"/>
              </a:rPr>
              <a:t>Optuna tuning, walk-forward CV, drift detection, automated weekly retraining</a:t>
            </a:r>
            <a:endParaRPr lang="en-US" sz="1050" dirty="0"/>
          </a:p>
        </p:txBody>
      </p:sp>
      <p:sp>
        <p:nvSpPr>
          <p:cNvPr id="29" name="Shape 22"/>
          <p:cNvSpPr/>
          <p:nvPr/>
        </p:nvSpPr>
        <p:spPr>
          <a:xfrm>
            <a:off x="8193024" y="3401568"/>
            <a:ext cx="3566160" cy="1417320"/>
          </a:xfrm>
          <a:prstGeom prst="roundRect">
            <a:avLst>
              <a:gd name="adj" fmla="val 6452"/>
            </a:avLst>
          </a:prstGeom>
          <a:solidFill>
            <a:srgbClr val="F3F6FA"/>
          </a:solidFill>
          <a:ln/>
        </p:spPr>
      </p:sp>
      <p:sp>
        <p:nvSpPr>
          <p:cNvPr id="30" name="Shape 23"/>
          <p:cNvSpPr/>
          <p:nvPr/>
        </p:nvSpPr>
        <p:spPr>
          <a:xfrm>
            <a:off x="8394192" y="3781044"/>
            <a:ext cx="658368" cy="658368"/>
          </a:xfrm>
          <a:prstGeom prst="ellipse">
            <a:avLst/>
          </a:prstGeom>
          <a:solidFill>
            <a:srgbClr val="0B1F3A"/>
          </a:solidFill>
          <a:ln/>
        </p:spPr>
      </p:sp>
      <p:pic>
        <p:nvPicPr>
          <p:cNvPr id="31" name="Image 5" descr="C:\Users\rupes\AppData\Local\Temp\claude\E--Projects-Gridalytics\b1299509-94b8-4995-bcba-996ea2dce8b4\scratchpad\icons\cloud.png">    </p:cNvPr>
          <p:cNvPicPr>
            <a:picLocks noChangeAspect="1"/>
          </p:cNvPicPr>
          <p:nvPr/>
        </p:nvPicPr>
        <p:blipFill>
          <a:blip r:embed="rId6"/>
          <a:stretch>
            <a:fillRect/>
          </a:stretch>
        </p:blipFill>
        <p:spPr>
          <a:xfrm>
            <a:off x="8558784" y="3945636"/>
            <a:ext cx="329184" cy="329184"/>
          </a:xfrm>
          <a:prstGeom prst="rect">
            <a:avLst/>
          </a:prstGeom>
        </p:spPr>
      </p:pic>
      <p:sp>
        <p:nvSpPr>
          <p:cNvPr id="32" name="Text 24"/>
          <p:cNvSpPr/>
          <p:nvPr/>
        </p:nvSpPr>
        <p:spPr>
          <a:xfrm>
            <a:off x="9198864" y="3547872"/>
            <a:ext cx="2423160" cy="320040"/>
          </a:xfrm>
          <a:prstGeom prst="rect">
            <a:avLst/>
          </a:prstGeom>
          <a:noFill/>
          <a:ln/>
        </p:spPr>
        <p:txBody>
          <a:bodyPr wrap="square" lIns="0" tIns="0" rIns="0" bIns="0" rtlCol="0" anchor="ctr"/>
          <a:lstStyle/>
          <a:p>
            <a:pPr indent="0" marL="0">
              <a:buNone/>
            </a:pPr>
            <a:r>
              <a:rPr lang="en-US" sz="1400" b="1" dirty="0">
                <a:solidFill>
                  <a:srgbClr val="17233F"/>
                </a:solidFill>
                <a:latin typeface="Cambria" pitchFamily="34" charset="0"/>
                <a:ea typeface="Cambria" pitchFamily="34" charset="-122"/>
                <a:cs typeface="Cambria" pitchFamily="34" charset="-120"/>
              </a:rPr>
              <a:t>Deployment</a:t>
            </a:r>
            <a:endParaRPr lang="en-US" sz="1400" dirty="0"/>
          </a:p>
        </p:txBody>
      </p:sp>
      <p:sp>
        <p:nvSpPr>
          <p:cNvPr id="33" name="Text 25"/>
          <p:cNvSpPr/>
          <p:nvPr/>
        </p:nvSpPr>
        <p:spPr>
          <a:xfrm>
            <a:off x="9198864" y="3877056"/>
            <a:ext cx="2423160" cy="822960"/>
          </a:xfrm>
          <a:prstGeom prst="rect">
            <a:avLst/>
          </a:prstGeom>
          <a:noFill/>
          <a:ln/>
        </p:spPr>
        <p:txBody>
          <a:bodyPr wrap="square" lIns="0" tIns="0" rIns="0" bIns="0" rtlCol="0" anchor="t"/>
          <a:lstStyle/>
          <a:p>
            <a:pPr indent="0" marL="0">
              <a:lnSpc>
                <a:spcPct val="108000"/>
              </a:lnSpc>
              <a:buNone/>
            </a:pPr>
            <a:r>
              <a:rPr lang="en-US" sz="1050" dirty="0">
                <a:solidFill>
                  <a:srgbClr val="5B6B82"/>
                </a:solidFill>
                <a:latin typeface="Calibri" pitchFamily="34" charset="0"/>
                <a:ea typeface="Calibri" pitchFamily="34" charset="-122"/>
                <a:cs typeface="Calibri" pitchFamily="34" charset="-120"/>
              </a:rPr>
              <a:t>Vercel + Render + Supabase + GitHub Actions — running at $0/month</a:t>
            </a:r>
            <a:endParaRPr lang="en-US" sz="1050" dirty="0"/>
          </a:p>
        </p:txBody>
      </p:sp>
      <p:sp>
        <p:nvSpPr>
          <p:cNvPr id="35" name="Text 26"/>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STAKEHOLDERS</a:t>
            </a:r>
            <a:endParaRPr lang="en-US" sz="1200" dirty="0"/>
          </a:p>
        </p:txBody>
      </p:sp>
      <p:sp>
        <p:nvSpPr>
          <p:cNvPr id="3" name="Text 1"/>
          <p:cNvSpPr/>
          <p:nvPr/>
        </p:nvSpPr>
        <p:spPr>
          <a:xfrm>
            <a:off x="548640" y="685800"/>
            <a:ext cx="1005840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Who Gains From This</a:t>
            </a:r>
            <a:endParaRPr lang="en-US" sz="3200" dirty="0"/>
          </a:p>
        </p:txBody>
      </p:sp>
      <p:sp>
        <p:nvSpPr>
          <p:cNvPr id="4" name="Shape 2"/>
          <p:cNvSpPr/>
          <p:nvPr/>
        </p:nvSpPr>
        <p:spPr>
          <a:xfrm>
            <a:off x="548640" y="1783080"/>
            <a:ext cx="2587752" cy="1965960"/>
          </a:xfrm>
          <a:prstGeom prst="roundRect">
            <a:avLst>
              <a:gd name="adj" fmla="val 4651"/>
            </a:avLst>
          </a:prstGeom>
          <a:solidFill>
            <a:srgbClr val="F3F6FA"/>
          </a:solidFill>
          <a:ln/>
        </p:spPr>
      </p:sp>
      <p:sp>
        <p:nvSpPr>
          <p:cNvPr id="5" name="Shape 3"/>
          <p:cNvSpPr/>
          <p:nvPr/>
        </p:nvSpPr>
        <p:spPr>
          <a:xfrm>
            <a:off x="1513332" y="1965960"/>
            <a:ext cx="658368" cy="658368"/>
          </a:xfrm>
          <a:prstGeom prst="ellipse">
            <a:avLst/>
          </a:prstGeom>
          <a:solidFill>
            <a:srgbClr val="0B1F3A"/>
          </a:solidFill>
          <a:ln/>
        </p:spPr>
      </p:sp>
      <p:pic>
        <p:nvPicPr>
          <p:cNvPr id="6" name="Image 0" descr="C:\Users\rupes\AppData\Local\Temp\claude\E--Projects-Gridalytics\b1299509-94b8-4995-bcba-996ea2dce8b4\scratchpad\icons\building.png">    </p:cNvPr>
          <p:cNvPicPr>
            <a:picLocks noChangeAspect="1"/>
          </p:cNvPicPr>
          <p:nvPr/>
        </p:nvPicPr>
        <p:blipFill>
          <a:blip r:embed="rId1"/>
          <a:stretch>
            <a:fillRect/>
          </a:stretch>
        </p:blipFill>
        <p:spPr>
          <a:xfrm>
            <a:off x="1677924" y="2130552"/>
            <a:ext cx="329184" cy="329184"/>
          </a:xfrm>
          <a:prstGeom prst="rect">
            <a:avLst/>
          </a:prstGeom>
        </p:spPr>
      </p:pic>
      <p:sp>
        <p:nvSpPr>
          <p:cNvPr id="7" name="Text 4"/>
          <p:cNvSpPr/>
          <p:nvPr/>
        </p:nvSpPr>
        <p:spPr>
          <a:xfrm>
            <a:off x="658368" y="271576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SLDCs &amp; Grid Operators</a:t>
            </a:r>
            <a:endParaRPr lang="en-US" sz="1200" dirty="0"/>
          </a:p>
        </p:txBody>
      </p:sp>
      <p:sp>
        <p:nvSpPr>
          <p:cNvPr id="8" name="Text 5"/>
          <p:cNvSpPr/>
          <p:nvPr/>
        </p:nvSpPr>
        <p:spPr>
          <a:xfrm>
            <a:off x="685800" y="315468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Day-ahead &amp; intraday scheduling, unit commitment</a:t>
            </a:r>
            <a:endParaRPr lang="en-US" sz="1000" dirty="0"/>
          </a:p>
        </p:txBody>
      </p:sp>
      <p:sp>
        <p:nvSpPr>
          <p:cNvPr id="9" name="Shape 6"/>
          <p:cNvSpPr/>
          <p:nvPr/>
        </p:nvSpPr>
        <p:spPr>
          <a:xfrm>
            <a:off x="3319272" y="1783080"/>
            <a:ext cx="2587752" cy="1965960"/>
          </a:xfrm>
          <a:prstGeom prst="roundRect">
            <a:avLst>
              <a:gd name="adj" fmla="val 4651"/>
            </a:avLst>
          </a:prstGeom>
          <a:solidFill>
            <a:srgbClr val="F3F6FA"/>
          </a:solidFill>
          <a:ln/>
        </p:spPr>
      </p:sp>
      <p:sp>
        <p:nvSpPr>
          <p:cNvPr id="10" name="Shape 7"/>
          <p:cNvSpPr/>
          <p:nvPr/>
        </p:nvSpPr>
        <p:spPr>
          <a:xfrm>
            <a:off x="4283964" y="1965960"/>
            <a:ext cx="658368" cy="658368"/>
          </a:xfrm>
          <a:prstGeom prst="ellipse">
            <a:avLst/>
          </a:prstGeom>
          <a:solidFill>
            <a:srgbClr val="0B1F3A"/>
          </a:solidFill>
          <a:ln/>
        </p:spPr>
      </p:sp>
      <p:pic>
        <p:nvPicPr>
          <p:cNvPr id="11" name="Image 1" descr="C:\Users\rupes\AppData\Local\Temp\claude\E--Projects-Gridalytics\b1299509-94b8-4995-bcba-996ea2dce8b4\scratchpad\icons\factory.png">    </p:cNvPr>
          <p:cNvPicPr>
            <a:picLocks noChangeAspect="1"/>
          </p:cNvPicPr>
          <p:nvPr/>
        </p:nvPicPr>
        <p:blipFill>
          <a:blip r:embed="rId2"/>
          <a:stretch>
            <a:fillRect/>
          </a:stretch>
        </p:blipFill>
        <p:spPr>
          <a:xfrm>
            <a:off x="4448556" y="2130552"/>
            <a:ext cx="329184" cy="329184"/>
          </a:xfrm>
          <a:prstGeom prst="rect">
            <a:avLst/>
          </a:prstGeom>
        </p:spPr>
      </p:pic>
      <p:sp>
        <p:nvSpPr>
          <p:cNvPr id="12" name="Text 8"/>
          <p:cNvSpPr/>
          <p:nvPr/>
        </p:nvSpPr>
        <p:spPr>
          <a:xfrm>
            <a:off x="3429000" y="271576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DISCOMs / Utilities</a:t>
            </a:r>
            <a:endParaRPr lang="en-US" sz="1200" dirty="0"/>
          </a:p>
        </p:txBody>
      </p:sp>
      <p:sp>
        <p:nvSpPr>
          <p:cNvPr id="13" name="Text 9"/>
          <p:cNvSpPr/>
          <p:nvPr/>
        </p:nvSpPr>
        <p:spPr>
          <a:xfrm>
            <a:off x="3456432" y="315468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Procurement planning, fewer drawal penalties</a:t>
            </a:r>
            <a:endParaRPr lang="en-US" sz="1000" dirty="0"/>
          </a:p>
        </p:txBody>
      </p:sp>
      <p:sp>
        <p:nvSpPr>
          <p:cNvPr id="14" name="Shape 10"/>
          <p:cNvSpPr/>
          <p:nvPr/>
        </p:nvSpPr>
        <p:spPr>
          <a:xfrm>
            <a:off x="6089904" y="1783080"/>
            <a:ext cx="2587752" cy="1965960"/>
          </a:xfrm>
          <a:prstGeom prst="roundRect">
            <a:avLst>
              <a:gd name="adj" fmla="val 4651"/>
            </a:avLst>
          </a:prstGeom>
          <a:solidFill>
            <a:srgbClr val="F3F6FA"/>
          </a:solidFill>
          <a:ln/>
        </p:spPr>
      </p:sp>
      <p:sp>
        <p:nvSpPr>
          <p:cNvPr id="15" name="Shape 11"/>
          <p:cNvSpPr/>
          <p:nvPr/>
        </p:nvSpPr>
        <p:spPr>
          <a:xfrm>
            <a:off x="7054596" y="1965960"/>
            <a:ext cx="658368" cy="658368"/>
          </a:xfrm>
          <a:prstGeom prst="ellipse">
            <a:avLst/>
          </a:prstGeom>
          <a:solidFill>
            <a:srgbClr val="0B1F3A"/>
          </a:solidFill>
          <a:ln/>
        </p:spPr>
      </p:sp>
      <p:pic>
        <p:nvPicPr>
          <p:cNvPr id="16" name="Image 2" descr="C:\Users\rupes\AppData\Local\Temp\claude\E--Projects-Gridalytics\b1299509-94b8-4995-bcba-996ea2dce8b4\scratchpad\icons\exchange.png">    </p:cNvPr>
          <p:cNvPicPr>
            <a:picLocks noChangeAspect="1"/>
          </p:cNvPicPr>
          <p:nvPr/>
        </p:nvPicPr>
        <p:blipFill>
          <a:blip r:embed="rId3"/>
          <a:stretch>
            <a:fillRect/>
          </a:stretch>
        </p:blipFill>
        <p:spPr>
          <a:xfrm>
            <a:off x="7219188" y="2130552"/>
            <a:ext cx="329184" cy="329184"/>
          </a:xfrm>
          <a:prstGeom prst="rect">
            <a:avLst/>
          </a:prstGeom>
        </p:spPr>
      </p:pic>
      <p:sp>
        <p:nvSpPr>
          <p:cNvPr id="17" name="Text 12"/>
          <p:cNvSpPr/>
          <p:nvPr/>
        </p:nvSpPr>
        <p:spPr>
          <a:xfrm>
            <a:off x="6199632" y="271576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Power Exchanges &amp; Traders</a:t>
            </a:r>
            <a:endParaRPr lang="en-US" sz="1200" dirty="0"/>
          </a:p>
        </p:txBody>
      </p:sp>
      <p:sp>
        <p:nvSpPr>
          <p:cNvPr id="18" name="Text 13"/>
          <p:cNvSpPr/>
          <p:nvPr/>
        </p:nvSpPr>
        <p:spPr>
          <a:xfrm>
            <a:off x="6227064" y="315468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Informed bidding on day-ahead &amp; real-time markets</a:t>
            </a:r>
            <a:endParaRPr lang="en-US" sz="1000" dirty="0"/>
          </a:p>
        </p:txBody>
      </p:sp>
      <p:sp>
        <p:nvSpPr>
          <p:cNvPr id="19" name="Shape 14"/>
          <p:cNvSpPr/>
          <p:nvPr/>
        </p:nvSpPr>
        <p:spPr>
          <a:xfrm>
            <a:off x="8860536" y="1783080"/>
            <a:ext cx="2587752" cy="1965960"/>
          </a:xfrm>
          <a:prstGeom prst="roundRect">
            <a:avLst>
              <a:gd name="adj" fmla="val 4651"/>
            </a:avLst>
          </a:prstGeom>
          <a:solidFill>
            <a:srgbClr val="F3F6FA"/>
          </a:solidFill>
          <a:ln/>
        </p:spPr>
      </p:sp>
      <p:sp>
        <p:nvSpPr>
          <p:cNvPr id="20" name="Shape 15"/>
          <p:cNvSpPr/>
          <p:nvPr/>
        </p:nvSpPr>
        <p:spPr>
          <a:xfrm>
            <a:off x="9825228" y="1965960"/>
            <a:ext cx="658368" cy="658368"/>
          </a:xfrm>
          <a:prstGeom prst="ellipse">
            <a:avLst/>
          </a:prstGeom>
          <a:solidFill>
            <a:srgbClr val="0B1F3A"/>
          </a:solidFill>
          <a:ln/>
        </p:spPr>
      </p:sp>
      <p:pic>
        <p:nvPicPr>
          <p:cNvPr id="21" name="Image 3" descr="C:\Users\rupes\AppData\Local\Temp\claude\E--Projects-Gridalytics\b1299509-94b8-4995-bcba-996ea2dce8b4\scratchpad\icons\flame.png">    </p:cNvPr>
          <p:cNvPicPr>
            <a:picLocks noChangeAspect="1"/>
          </p:cNvPicPr>
          <p:nvPr/>
        </p:nvPicPr>
        <p:blipFill>
          <a:blip r:embed="rId4"/>
          <a:stretch>
            <a:fillRect/>
          </a:stretch>
        </p:blipFill>
        <p:spPr>
          <a:xfrm>
            <a:off x="9989820" y="2130552"/>
            <a:ext cx="329184" cy="329184"/>
          </a:xfrm>
          <a:prstGeom prst="rect">
            <a:avLst/>
          </a:prstGeom>
        </p:spPr>
      </p:pic>
      <p:sp>
        <p:nvSpPr>
          <p:cNvPr id="22" name="Text 16"/>
          <p:cNvSpPr/>
          <p:nvPr/>
        </p:nvSpPr>
        <p:spPr>
          <a:xfrm>
            <a:off x="8970264" y="271576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Generation Companies</a:t>
            </a:r>
            <a:endParaRPr lang="en-US" sz="1200" dirty="0"/>
          </a:p>
        </p:txBody>
      </p:sp>
      <p:sp>
        <p:nvSpPr>
          <p:cNvPr id="23" name="Text 17"/>
          <p:cNvSpPr/>
          <p:nvPr/>
        </p:nvSpPr>
        <p:spPr>
          <a:xfrm>
            <a:off x="8997696" y="315468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Efficient ramp planning &amp; dispatch</a:t>
            </a:r>
            <a:endParaRPr lang="en-US" sz="1000" dirty="0"/>
          </a:p>
        </p:txBody>
      </p:sp>
      <p:sp>
        <p:nvSpPr>
          <p:cNvPr id="24" name="Shape 18"/>
          <p:cNvSpPr/>
          <p:nvPr/>
        </p:nvSpPr>
        <p:spPr>
          <a:xfrm>
            <a:off x="548640" y="3977640"/>
            <a:ext cx="2587752" cy="1965960"/>
          </a:xfrm>
          <a:prstGeom prst="roundRect">
            <a:avLst>
              <a:gd name="adj" fmla="val 4651"/>
            </a:avLst>
          </a:prstGeom>
          <a:solidFill>
            <a:srgbClr val="F3F6FA"/>
          </a:solidFill>
          <a:ln/>
        </p:spPr>
      </p:sp>
      <p:sp>
        <p:nvSpPr>
          <p:cNvPr id="25" name="Shape 19"/>
          <p:cNvSpPr/>
          <p:nvPr/>
        </p:nvSpPr>
        <p:spPr>
          <a:xfrm>
            <a:off x="1513332" y="4160520"/>
            <a:ext cx="658368" cy="658368"/>
          </a:xfrm>
          <a:prstGeom prst="ellipse">
            <a:avLst/>
          </a:prstGeom>
          <a:solidFill>
            <a:srgbClr val="0B1F3A"/>
          </a:solidFill>
          <a:ln/>
        </p:spPr>
      </p:sp>
      <p:pic>
        <p:nvPicPr>
          <p:cNvPr id="26" name="Image 4" descr="C:\Users\rupes\AppData\Local\Temp\claude\E--Projects-Gridalytics\b1299509-94b8-4995-bcba-996ea2dce8b4\scratchpad\icons\leaf.png">    </p:cNvPr>
          <p:cNvPicPr>
            <a:picLocks noChangeAspect="1"/>
          </p:cNvPicPr>
          <p:nvPr/>
        </p:nvPicPr>
        <p:blipFill>
          <a:blip r:embed="rId5"/>
          <a:stretch>
            <a:fillRect/>
          </a:stretch>
        </p:blipFill>
        <p:spPr>
          <a:xfrm>
            <a:off x="1677924" y="4325112"/>
            <a:ext cx="329184" cy="329184"/>
          </a:xfrm>
          <a:prstGeom prst="rect">
            <a:avLst/>
          </a:prstGeom>
        </p:spPr>
      </p:pic>
      <p:sp>
        <p:nvSpPr>
          <p:cNvPr id="27" name="Text 20"/>
          <p:cNvSpPr/>
          <p:nvPr/>
        </p:nvSpPr>
        <p:spPr>
          <a:xfrm>
            <a:off x="658368" y="491032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Renewable Integration</a:t>
            </a:r>
            <a:endParaRPr lang="en-US" sz="1200" dirty="0"/>
          </a:p>
        </p:txBody>
      </p:sp>
      <p:sp>
        <p:nvSpPr>
          <p:cNvPr id="28" name="Text 21"/>
          <p:cNvSpPr/>
          <p:nvPr/>
        </p:nvSpPr>
        <p:spPr>
          <a:xfrm>
            <a:off x="685800" y="534924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Balancing solar &amp; wind variability against demand</a:t>
            </a:r>
            <a:endParaRPr lang="en-US" sz="1000" dirty="0"/>
          </a:p>
        </p:txBody>
      </p:sp>
      <p:sp>
        <p:nvSpPr>
          <p:cNvPr id="29" name="Shape 22"/>
          <p:cNvSpPr/>
          <p:nvPr/>
        </p:nvSpPr>
        <p:spPr>
          <a:xfrm>
            <a:off x="3319272" y="3977640"/>
            <a:ext cx="2587752" cy="1965960"/>
          </a:xfrm>
          <a:prstGeom prst="roundRect">
            <a:avLst>
              <a:gd name="adj" fmla="val 4651"/>
            </a:avLst>
          </a:prstGeom>
          <a:solidFill>
            <a:srgbClr val="F3F6FA"/>
          </a:solidFill>
          <a:ln/>
        </p:spPr>
      </p:sp>
      <p:sp>
        <p:nvSpPr>
          <p:cNvPr id="30" name="Shape 23"/>
          <p:cNvSpPr/>
          <p:nvPr/>
        </p:nvSpPr>
        <p:spPr>
          <a:xfrm>
            <a:off x="4283964" y="4160520"/>
            <a:ext cx="658368" cy="658368"/>
          </a:xfrm>
          <a:prstGeom prst="ellipse">
            <a:avLst/>
          </a:prstGeom>
          <a:solidFill>
            <a:srgbClr val="0B1F3A"/>
          </a:solidFill>
          <a:ln/>
        </p:spPr>
      </p:sp>
      <p:pic>
        <p:nvPicPr>
          <p:cNvPr id="31" name="Image 5" descr="C:\Users\rupes\AppData\Local\Temp\claude\E--Projects-Gridalytics\b1299509-94b8-4995-bcba-996ea2dce8b4\scratchpad\icons\ev.png">    </p:cNvPr>
          <p:cNvPicPr>
            <a:picLocks noChangeAspect="1"/>
          </p:cNvPicPr>
          <p:nvPr/>
        </p:nvPicPr>
        <p:blipFill>
          <a:blip r:embed="rId6"/>
          <a:stretch>
            <a:fillRect/>
          </a:stretch>
        </p:blipFill>
        <p:spPr>
          <a:xfrm>
            <a:off x="4448556" y="4325112"/>
            <a:ext cx="329184" cy="329184"/>
          </a:xfrm>
          <a:prstGeom prst="rect">
            <a:avLst/>
          </a:prstGeom>
        </p:spPr>
      </p:pic>
      <p:sp>
        <p:nvSpPr>
          <p:cNvPr id="32" name="Text 24"/>
          <p:cNvSpPr/>
          <p:nvPr/>
        </p:nvSpPr>
        <p:spPr>
          <a:xfrm>
            <a:off x="3429000" y="491032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EV Charging Networks</a:t>
            </a:r>
            <a:endParaRPr lang="en-US" sz="1200" dirty="0"/>
          </a:p>
        </p:txBody>
      </p:sp>
      <p:sp>
        <p:nvSpPr>
          <p:cNvPr id="33" name="Text 25"/>
          <p:cNvSpPr/>
          <p:nvPr/>
        </p:nvSpPr>
        <p:spPr>
          <a:xfrm>
            <a:off x="3456432" y="534924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Charging-load forecasting for infra planning</a:t>
            </a:r>
            <a:endParaRPr lang="en-US" sz="1000" dirty="0"/>
          </a:p>
        </p:txBody>
      </p:sp>
      <p:sp>
        <p:nvSpPr>
          <p:cNvPr id="34" name="Shape 26"/>
          <p:cNvSpPr/>
          <p:nvPr/>
        </p:nvSpPr>
        <p:spPr>
          <a:xfrm>
            <a:off x="6089904" y="3977640"/>
            <a:ext cx="2587752" cy="1965960"/>
          </a:xfrm>
          <a:prstGeom prst="roundRect">
            <a:avLst>
              <a:gd name="adj" fmla="val 4651"/>
            </a:avLst>
          </a:prstGeom>
          <a:solidFill>
            <a:srgbClr val="F3F6FA"/>
          </a:solidFill>
          <a:ln/>
        </p:spPr>
      </p:sp>
      <p:sp>
        <p:nvSpPr>
          <p:cNvPr id="35" name="Shape 27"/>
          <p:cNvSpPr/>
          <p:nvPr/>
        </p:nvSpPr>
        <p:spPr>
          <a:xfrm>
            <a:off x="7054596" y="4160520"/>
            <a:ext cx="658368" cy="658368"/>
          </a:xfrm>
          <a:prstGeom prst="ellipse">
            <a:avLst/>
          </a:prstGeom>
          <a:solidFill>
            <a:srgbClr val="0B1F3A"/>
          </a:solidFill>
          <a:ln/>
        </p:spPr>
      </p:sp>
      <p:pic>
        <p:nvPicPr>
          <p:cNvPr id="36" name="Image 6" descr="C:\Users\rupes\AppData\Local\Temp\claude\E--Projects-Gridalytics\b1299509-94b8-4995-bcba-996ea2dce8b4\scratchpad\icons\city.png">    </p:cNvPr>
          <p:cNvPicPr>
            <a:picLocks noChangeAspect="1"/>
          </p:cNvPicPr>
          <p:nvPr/>
        </p:nvPicPr>
        <p:blipFill>
          <a:blip r:embed="rId7"/>
          <a:stretch>
            <a:fillRect/>
          </a:stretch>
        </p:blipFill>
        <p:spPr>
          <a:xfrm>
            <a:off x="7219188" y="4325112"/>
            <a:ext cx="329184" cy="329184"/>
          </a:xfrm>
          <a:prstGeom prst="rect">
            <a:avLst/>
          </a:prstGeom>
        </p:spPr>
      </p:pic>
      <p:sp>
        <p:nvSpPr>
          <p:cNvPr id="37" name="Text 28"/>
          <p:cNvSpPr/>
          <p:nvPr/>
        </p:nvSpPr>
        <p:spPr>
          <a:xfrm>
            <a:off x="6199632" y="491032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Smart Cities &amp; Buildings</a:t>
            </a:r>
            <a:endParaRPr lang="en-US" sz="1200" dirty="0"/>
          </a:p>
        </p:txBody>
      </p:sp>
      <p:sp>
        <p:nvSpPr>
          <p:cNvPr id="38" name="Text 29"/>
          <p:cNvSpPr/>
          <p:nvPr/>
        </p:nvSpPr>
        <p:spPr>
          <a:xfrm>
            <a:off x="6227064" y="534924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Energy-management systems</a:t>
            </a:r>
            <a:endParaRPr lang="en-US" sz="1000" dirty="0"/>
          </a:p>
        </p:txBody>
      </p:sp>
      <p:sp>
        <p:nvSpPr>
          <p:cNvPr id="39" name="Shape 30"/>
          <p:cNvSpPr/>
          <p:nvPr/>
        </p:nvSpPr>
        <p:spPr>
          <a:xfrm>
            <a:off x="8860536" y="3977640"/>
            <a:ext cx="2587752" cy="1965960"/>
          </a:xfrm>
          <a:prstGeom prst="roundRect">
            <a:avLst>
              <a:gd name="adj" fmla="val 4651"/>
            </a:avLst>
          </a:prstGeom>
          <a:solidFill>
            <a:srgbClr val="F3F6FA"/>
          </a:solidFill>
          <a:ln/>
        </p:spPr>
      </p:sp>
      <p:sp>
        <p:nvSpPr>
          <p:cNvPr id="40" name="Shape 31"/>
          <p:cNvSpPr/>
          <p:nvPr/>
        </p:nvSpPr>
        <p:spPr>
          <a:xfrm>
            <a:off x="9825228" y="4160520"/>
            <a:ext cx="658368" cy="658368"/>
          </a:xfrm>
          <a:prstGeom prst="ellipse">
            <a:avLst/>
          </a:prstGeom>
          <a:solidFill>
            <a:srgbClr val="0B1F3A"/>
          </a:solidFill>
          <a:ln/>
        </p:spPr>
      </p:sp>
      <p:pic>
        <p:nvPicPr>
          <p:cNvPr id="41" name="Image 7" descr="C:\Users\rupes\AppData\Local\Temp\claude\E--Projects-Gridalytics\b1299509-94b8-4995-bcba-996ea2dce8b4\scratchpad\icons\gavel.png">    </p:cNvPr>
          <p:cNvPicPr>
            <a:picLocks noChangeAspect="1"/>
          </p:cNvPicPr>
          <p:nvPr/>
        </p:nvPicPr>
        <p:blipFill>
          <a:blip r:embed="rId8"/>
          <a:stretch>
            <a:fillRect/>
          </a:stretch>
        </p:blipFill>
        <p:spPr>
          <a:xfrm>
            <a:off x="9989820" y="4325112"/>
            <a:ext cx="329184" cy="329184"/>
          </a:xfrm>
          <a:prstGeom prst="rect">
            <a:avLst/>
          </a:prstGeom>
        </p:spPr>
      </p:pic>
      <p:sp>
        <p:nvSpPr>
          <p:cNvPr id="42" name="Text 32"/>
          <p:cNvSpPr/>
          <p:nvPr/>
        </p:nvSpPr>
        <p:spPr>
          <a:xfrm>
            <a:off x="8970264" y="4910328"/>
            <a:ext cx="2368296" cy="502920"/>
          </a:xfrm>
          <a:prstGeom prst="rect">
            <a:avLst/>
          </a:prstGeom>
          <a:noFill/>
          <a:ln/>
        </p:spPr>
        <p:txBody>
          <a:bodyPr wrap="square" lIns="0" tIns="0" rIns="0" bIns="0" rtlCol="0" anchor="t"/>
          <a:lstStyle/>
          <a:p>
            <a:pPr algn="ctr" indent="0" marL="0">
              <a:buNone/>
            </a:pPr>
            <a:r>
              <a:rPr lang="en-US" sz="1200" b="1" dirty="0">
                <a:solidFill>
                  <a:srgbClr val="17233F"/>
                </a:solidFill>
                <a:latin typeface="Cambria" pitchFamily="34" charset="0"/>
                <a:ea typeface="Cambria" pitchFamily="34" charset="-122"/>
                <a:cs typeface="Cambria" pitchFamily="34" charset="-120"/>
              </a:rPr>
              <a:t>Regulators &amp; Policymakers</a:t>
            </a:r>
            <a:endParaRPr lang="en-US" sz="1200" dirty="0"/>
          </a:p>
        </p:txBody>
      </p:sp>
      <p:sp>
        <p:nvSpPr>
          <p:cNvPr id="43" name="Text 33"/>
          <p:cNvSpPr/>
          <p:nvPr/>
        </p:nvSpPr>
        <p:spPr>
          <a:xfrm>
            <a:off x="8997696" y="5349240"/>
            <a:ext cx="2313432" cy="502920"/>
          </a:xfrm>
          <a:prstGeom prst="rect">
            <a:avLst/>
          </a:prstGeom>
          <a:noFill/>
          <a:ln/>
        </p:spPr>
        <p:txBody>
          <a:bodyPr wrap="square" lIns="0" tIns="0" rIns="0" bIns="0" rtlCol="0" anchor="t"/>
          <a:lstStyle/>
          <a:p>
            <a:pPr algn="ctr" indent="0" marL="0">
              <a:buNone/>
            </a:pPr>
            <a:r>
              <a:rPr lang="en-US" sz="1000" dirty="0">
                <a:solidFill>
                  <a:srgbClr val="5B6B82"/>
                </a:solidFill>
                <a:latin typeface="Calibri" pitchFamily="34" charset="0"/>
                <a:ea typeface="Calibri" pitchFamily="34" charset="-122"/>
                <a:cs typeface="Calibri" pitchFamily="34" charset="-120"/>
              </a:rPr>
              <a:t>Capacity planning, peak-demand programmes</a:t>
            </a:r>
            <a:endParaRPr lang="en-US" sz="1000" dirty="0"/>
          </a:p>
        </p:txBody>
      </p:sp>
      <p:sp>
        <p:nvSpPr>
          <p:cNvPr id="45" name="Text 34"/>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IMPACT</a:t>
            </a:r>
            <a:endParaRPr lang="en-US" sz="1200" dirty="0"/>
          </a:p>
        </p:txBody>
      </p:sp>
      <p:sp>
        <p:nvSpPr>
          <p:cNvPr id="3" name="Text 1"/>
          <p:cNvSpPr/>
          <p:nvPr/>
        </p:nvSpPr>
        <p:spPr>
          <a:xfrm>
            <a:off x="548640" y="685800"/>
            <a:ext cx="1005840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The Energy-Efficiency Payoff</a:t>
            </a:r>
            <a:endParaRPr lang="en-US" sz="3200" dirty="0"/>
          </a:p>
        </p:txBody>
      </p:sp>
      <p:sp>
        <p:nvSpPr>
          <p:cNvPr id="4" name="Shape 2"/>
          <p:cNvSpPr/>
          <p:nvPr/>
        </p:nvSpPr>
        <p:spPr>
          <a:xfrm>
            <a:off x="548640" y="1783080"/>
            <a:ext cx="2606040" cy="3840480"/>
          </a:xfrm>
          <a:prstGeom prst="roundRect">
            <a:avLst>
              <a:gd name="adj" fmla="val 3509"/>
            </a:avLst>
          </a:prstGeom>
          <a:solidFill>
            <a:srgbClr val="0B1F3A"/>
          </a:solidFill>
          <a:ln/>
        </p:spPr>
      </p:sp>
      <p:sp>
        <p:nvSpPr>
          <p:cNvPr id="5" name="Shape 3"/>
          <p:cNvSpPr/>
          <p:nvPr/>
        </p:nvSpPr>
        <p:spPr>
          <a:xfrm>
            <a:off x="1440180" y="2103120"/>
            <a:ext cx="822960" cy="822960"/>
          </a:xfrm>
          <a:prstGeom prst="ellipse">
            <a:avLst/>
          </a:prstGeom>
          <a:solidFill>
            <a:srgbClr val="13294B"/>
          </a:solidFill>
          <a:ln/>
        </p:spPr>
      </p:sp>
      <p:pic>
        <p:nvPicPr>
          <p:cNvPr id="6" name="Image 0" descr="C:\Users\rupes\AppData\Local\Temp\claude\E--Projects-Gridalytics\b1299509-94b8-4995-bcba-996ea2dce8b4\scratchpad\icons\bolt.png">    </p:cNvPr>
          <p:cNvPicPr>
            <a:picLocks noChangeAspect="1"/>
          </p:cNvPicPr>
          <p:nvPr/>
        </p:nvPicPr>
        <p:blipFill>
          <a:blip r:embed="rId1"/>
          <a:stretch>
            <a:fillRect/>
          </a:stretch>
        </p:blipFill>
        <p:spPr>
          <a:xfrm>
            <a:off x="1645920" y="2308860"/>
            <a:ext cx="411480" cy="411480"/>
          </a:xfrm>
          <a:prstGeom prst="rect">
            <a:avLst/>
          </a:prstGeom>
        </p:spPr>
      </p:pic>
      <p:sp>
        <p:nvSpPr>
          <p:cNvPr id="7" name="Text 4"/>
          <p:cNvSpPr/>
          <p:nvPr/>
        </p:nvSpPr>
        <p:spPr>
          <a:xfrm>
            <a:off x="685800" y="3108960"/>
            <a:ext cx="23317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Efficiency</a:t>
            </a:r>
            <a:endParaRPr lang="en-US" sz="1600" dirty="0"/>
          </a:p>
        </p:txBody>
      </p:sp>
      <p:sp>
        <p:nvSpPr>
          <p:cNvPr id="8" name="Text 5"/>
          <p:cNvSpPr/>
          <p:nvPr/>
        </p:nvSpPr>
        <p:spPr>
          <a:xfrm>
            <a:off x="749808" y="3520440"/>
            <a:ext cx="2203704" cy="1965960"/>
          </a:xfrm>
          <a:prstGeom prst="rect">
            <a:avLst/>
          </a:prstGeom>
          <a:noFill/>
          <a:ln/>
        </p:spPr>
        <p:txBody>
          <a:bodyPr wrap="square" lIns="0" tIns="0" rIns="0" bIns="0" rtlCol="0" anchor="t"/>
          <a:lstStyle/>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Precise generation scheduling cuts over-generation and fuel waste, with fewer costly peaker-plant runs.</a:t>
            </a:r>
            <a:endParaRPr lang="en-US" sz="1150" dirty="0"/>
          </a:p>
        </p:txBody>
      </p:sp>
      <p:sp>
        <p:nvSpPr>
          <p:cNvPr id="9" name="Shape 6"/>
          <p:cNvSpPr/>
          <p:nvPr/>
        </p:nvSpPr>
        <p:spPr>
          <a:xfrm>
            <a:off x="3383280" y="1783080"/>
            <a:ext cx="2606040" cy="3840480"/>
          </a:xfrm>
          <a:prstGeom prst="roundRect">
            <a:avLst>
              <a:gd name="adj" fmla="val 3509"/>
            </a:avLst>
          </a:prstGeom>
          <a:solidFill>
            <a:srgbClr val="F3F6FA"/>
          </a:solidFill>
          <a:ln/>
        </p:spPr>
      </p:sp>
      <p:sp>
        <p:nvSpPr>
          <p:cNvPr id="10" name="Shape 7"/>
          <p:cNvSpPr/>
          <p:nvPr/>
        </p:nvSpPr>
        <p:spPr>
          <a:xfrm>
            <a:off x="4274820" y="2103120"/>
            <a:ext cx="822960" cy="822960"/>
          </a:xfrm>
          <a:prstGeom prst="ellipse">
            <a:avLst/>
          </a:prstGeom>
          <a:solidFill>
            <a:srgbClr val="FFB627"/>
          </a:solidFill>
          <a:ln/>
        </p:spPr>
      </p:sp>
      <p:pic>
        <p:nvPicPr>
          <p:cNvPr id="11" name="Image 1" descr="C:\Users\rupes\AppData\Local\Temp\claude\E--Projects-Gridalytics\b1299509-94b8-4995-bcba-996ea2dce8b4\scratchpad\icons\shield.png">    </p:cNvPr>
          <p:cNvPicPr>
            <a:picLocks noChangeAspect="1"/>
          </p:cNvPicPr>
          <p:nvPr/>
        </p:nvPicPr>
        <p:blipFill>
          <a:blip r:embed="rId2"/>
          <a:stretch>
            <a:fillRect/>
          </a:stretch>
        </p:blipFill>
        <p:spPr>
          <a:xfrm>
            <a:off x="4480560" y="2308860"/>
            <a:ext cx="411480" cy="411480"/>
          </a:xfrm>
          <a:prstGeom prst="rect">
            <a:avLst/>
          </a:prstGeom>
        </p:spPr>
      </p:pic>
      <p:sp>
        <p:nvSpPr>
          <p:cNvPr id="12" name="Text 8"/>
          <p:cNvSpPr/>
          <p:nvPr/>
        </p:nvSpPr>
        <p:spPr>
          <a:xfrm>
            <a:off x="3520440" y="3108960"/>
            <a:ext cx="2331720" cy="365760"/>
          </a:xfrm>
          <a:prstGeom prst="rect">
            <a:avLst/>
          </a:prstGeom>
          <a:noFill/>
          <a:ln/>
        </p:spPr>
        <p:txBody>
          <a:bodyPr wrap="square" lIns="0" tIns="0" rIns="0" bIns="0" rtlCol="0" anchor="ctr"/>
          <a:lstStyle/>
          <a:p>
            <a:pPr algn="ctr" indent="0" marL="0">
              <a:buNone/>
            </a:pPr>
            <a:r>
              <a:rPr lang="en-US" sz="1600" b="1" dirty="0">
                <a:solidFill>
                  <a:srgbClr val="17233F"/>
                </a:solidFill>
                <a:latin typeface="Cambria" pitchFamily="34" charset="0"/>
                <a:ea typeface="Cambria" pitchFamily="34" charset="-122"/>
                <a:cs typeface="Cambria" pitchFamily="34" charset="-120"/>
              </a:rPr>
              <a:t>Reliability</a:t>
            </a:r>
            <a:endParaRPr lang="en-US" sz="1600" dirty="0"/>
          </a:p>
        </p:txBody>
      </p:sp>
      <p:sp>
        <p:nvSpPr>
          <p:cNvPr id="13" name="Text 9"/>
          <p:cNvSpPr/>
          <p:nvPr/>
        </p:nvSpPr>
        <p:spPr>
          <a:xfrm>
            <a:off x="3584448" y="3520440"/>
            <a:ext cx="2203704" cy="1965960"/>
          </a:xfrm>
          <a:prstGeom prst="rect">
            <a:avLst/>
          </a:prstGeom>
          <a:noFill/>
          <a:ln/>
        </p:spPr>
        <p:txBody>
          <a:bodyPr wrap="square" lIns="0" tIns="0" rIns="0" bIns="0" rtlCol="0" anchor="t"/>
          <a:lstStyle/>
          <a:p>
            <a:pPr algn="ctr" indent="0" marL="0">
              <a:lnSpc>
                <a:spcPct val="115000"/>
              </a:lnSpc>
              <a:buNone/>
            </a:pPr>
            <a:r>
              <a:rPr lang="en-US" sz="1150" dirty="0">
                <a:solidFill>
                  <a:srgbClr val="5B6B82"/>
                </a:solidFill>
                <a:latin typeface="Calibri" pitchFamily="34" charset="0"/>
                <a:ea typeface="Calibri" pitchFamily="34" charset="-122"/>
                <a:cs typeface="Calibri" pitchFamily="34" charset="-120"/>
              </a:rPr>
              <a:t>Lower spinning reserves, better peak-shaving and demand-response, fewer grid-instability risks.</a:t>
            </a:r>
            <a:endParaRPr lang="en-US" sz="1150" dirty="0"/>
          </a:p>
        </p:txBody>
      </p:sp>
      <p:sp>
        <p:nvSpPr>
          <p:cNvPr id="14" name="Shape 10"/>
          <p:cNvSpPr/>
          <p:nvPr/>
        </p:nvSpPr>
        <p:spPr>
          <a:xfrm>
            <a:off x="6217920" y="1783080"/>
            <a:ext cx="2606040" cy="3840480"/>
          </a:xfrm>
          <a:prstGeom prst="roundRect">
            <a:avLst>
              <a:gd name="adj" fmla="val 3509"/>
            </a:avLst>
          </a:prstGeom>
          <a:solidFill>
            <a:srgbClr val="0B1F3A"/>
          </a:solidFill>
          <a:ln/>
        </p:spPr>
      </p:sp>
      <p:sp>
        <p:nvSpPr>
          <p:cNvPr id="15" name="Shape 11"/>
          <p:cNvSpPr/>
          <p:nvPr/>
        </p:nvSpPr>
        <p:spPr>
          <a:xfrm>
            <a:off x="7109460" y="2103120"/>
            <a:ext cx="822960" cy="822960"/>
          </a:xfrm>
          <a:prstGeom prst="ellipse">
            <a:avLst/>
          </a:prstGeom>
          <a:solidFill>
            <a:srgbClr val="FFB627"/>
          </a:solidFill>
          <a:ln/>
        </p:spPr>
      </p:sp>
      <p:pic>
        <p:nvPicPr>
          <p:cNvPr id="16" name="Image 2" descr="C:\Users\rupes\AppData\Local\Temp\claude\E--Projects-Gridalytics\b1299509-94b8-4995-bcba-996ea2dce8b4\scratchpad\icons\coins.png">    </p:cNvPr>
          <p:cNvPicPr>
            <a:picLocks noChangeAspect="1"/>
          </p:cNvPicPr>
          <p:nvPr/>
        </p:nvPicPr>
        <p:blipFill>
          <a:blip r:embed="rId3"/>
          <a:stretch>
            <a:fillRect/>
          </a:stretch>
        </p:blipFill>
        <p:spPr>
          <a:xfrm>
            <a:off x="7315200" y="2308860"/>
            <a:ext cx="411480" cy="411480"/>
          </a:xfrm>
          <a:prstGeom prst="rect">
            <a:avLst/>
          </a:prstGeom>
        </p:spPr>
      </p:pic>
      <p:sp>
        <p:nvSpPr>
          <p:cNvPr id="17" name="Text 12"/>
          <p:cNvSpPr/>
          <p:nvPr/>
        </p:nvSpPr>
        <p:spPr>
          <a:xfrm>
            <a:off x="6355080" y="3108960"/>
            <a:ext cx="233172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Cost Savings</a:t>
            </a:r>
            <a:endParaRPr lang="en-US" sz="1600" dirty="0"/>
          </a:p>
        </p:txBody>
      </p:sp>
      <p:sp>
        <p:nvSpPr>
          <p:cNvPr id="18" name="Text 13"/>
          <p:cNvSpPr/>
          <p:nvPr/>
        </p:nvSpPr>
        <p:spPr>
          <a:xfrm>
            <a:off x="6419088" y="3520440"/>
            <a:ext cx="2203704" cy="1965960"/>
          </a:xfrm>
          <a:prstGeom prst="rect">
            <a:avLst/>
          </a:prstGeom>
          <a:noFill/>
          <a:ln/>
        </p:spPr>
        <p:txBody>
          <a:bodyPr wrap="square" lIns="0" tIns="0" rIns="0" bIns="0" rtlCol="0" anchor="t"/>
          <a:lstStyle/>
          <a:p>
            <a:pPr algn="ctr" indent="0" marL="0">
              <a:lnSpc>
                <a:spcPct val="115000"/>
              </a:lnSpc>
              <a:buNone/>
            </a:pPr>
            <a:r>
              <a:rPr lang="en-US" sz="1150" dirty="0">
                <a:solidFill>
                  <a:srgbClr val="CADCFC"/>
                </a:solidFill>
                <a:latin typeface="Calibri" pitchFamily="34" charset="0"/>
                <a:ea typeface="Calibri" pitchFamily="34" charset="-122"/>
                <a:cs typeface="Calibri" pitchFamily="34" charset="-120"/>
              </a:rPr>
              <a:t>Fewer over/under-drawal penalties and transmission losses — even a 1% forecast-error cut saves grids crores.</a:t>
            </a:r>
            <a:endParaRPr lang="en-US" sz="1150" dirty="0"/>
          </a:p>
        </p:txBody>
      </p:sp>
      <p:sp>
        <p:nvSpPr>
          <p:cNvPr id="19" name="Shape 14"/>
          <p:cNvSpPr/>
          <p:nvPr/>
        </p:nvSpPr>
        <p:spPr>
          <a:xfrm>
            <a:off x="9052560" y="1783080"/>
            <a:ext cx="2606040" cy="3840480"/>
          </a:xfrm>
          <a:prstGeom prst="roundRect">
            <a:avLst>
              <a:gd name="adj" fmla="val 3509"/>
            </a:avLst>
          </a:prstGeom>
          <a:solidFill>
            <a:srgbClr val="F3F6FA"/>
          </a:solidFill>
          <a:ln/>
        </p:spPr>
      </p:sp>
      <p:sp>
        <p:nvSpPr>
          <p:cNvPr id="20" name="Shape 15"/>
          <p:cNvSpPr/>
          <p:nvPr/>
        </p:nvSpPr>
        <p:spPr>
          <a:xfrm>
            <a:off x="9944100" y="2103120"/>
            <a:ext cx="822960" cy="822960"/>
          </a:xfrm>
          <a:prstGeom prst="ellipse">
            <a:avLst/>
          </a:prstGeom>
          <a:solidFill>
            <a:srgbClr val="13294B"/>
          </a:solidFill>
          <a:ln/>
        </p:spPr>
      </p:sp>
      <p:pic>
        <p:nvPicPr>
          <p:cNvPr id="21" name="Image 3" descr="C:\Users\rupes\AppData\Local\Temp\claude\E--Projects-Gridalytics\b1299509-94b8-4995-bcba-996ea2dce8b4\scratchpad\icons\leaf.png">    </p:cNvPr>
          <p:cNvPicPr>
            <a:picLocks noChangeAspect="1"/>
          </p:cNvPicPr>
          <p:nvPr/>
        </p:nvPicPr>
        <p:blipFill>
          <a:blip r:embed="rId4"/>
          <a:stretch>
            <a:fillRect/>
          </a:stretch>
        </p:blipFill>
        <p:spPr>
          <a:xfrm>
            <a:off x="10149840" y="2308860"/>
            <a:ext cx="411480" cy="411480"/>
          </a:xfrm>
          <a:prstGeom prst="rect">
            <a:avLst/>
          </a:prstGeom>
        </p:spPr>
      </p:pic>
      <p:sp>
        <p:nvSpPr>
          <p:cNvPr id="22" name="Text 16"/>
          <p:cNvSpPr/>
          <p:nvPr/>
        </p:nvSpPr>
        <p:spPr>
          <a:xfrm>
            <a:off x="9189720" y="3108960"/>
            <a:ext cx="2331720" cy="365760"/>
          </a:xfrm>
          <a:prstGeom prst="rect">
            <a:avLst/>
          </a:prstGeom>
          <a:noFill/>
          <a:ln/>
        </p:spPr>
        <p:txBody>
          <a:bodyPr wrap="square" lIns="0" tIns="0" rIns="0" bIns="0" rtlCol="0" anchor="ctr"/>
          <a:lstStyle/>
          <a:p>
            <a:pPr algn="ctr" indent="0" marL="0">
              <a:buNone/>
            </a:pPr>
            <a:r>
              <a:rPr lang="en-US" sz="1600" b="1" dirty="0">
                <a:solidFill>
                  <a:srgbClr val="17233F"/>
                </a:solidFill>
                <a:latin typeface="Cambria" pitchFamily="34" charset="0"/>
                <a:ea typeface="Cambria" pitchFamily="34" charset="-122"/>
                <a:cs typeface="Cambria" pitchFamily="34" charset="-120"/>
              </a:rPr>
              <a:t>Sustainability</a:t>
            </a:r>
            <a:endParaRPr lang="en-US" sz="1600" dirty="0"/>
          </a:p>
        </p:txBody>
      </p:sp>
      <p:sp>
        <p:nvSpPr>
          <p:cNvPr id="23" name="Text 17"/>
          <p:cNvSpPr/>
          <p:nvPr/>
        </p:nvSpPr>
        <p:spPr>
          <a:xfrm>
            <a:off x="9253728" y="3520440"/>
            <a:ext cx="2203704" cy="1965960"/>
          </a:xfrm>
          <a:prstGeom prst="rect">
            <a:avLst/>
          </a:prstGeom>
          <a:noFill/>
          <a:ln/>
        </p:spPr>
        <p:txBody>
          <a:bodyPr wrap="square" lIns="0" tIns="0" rIns="0" bIns="0" rtlCol="0" anchor="t"/>
          <a:lstStyle/>
          <a:p>
            <a:pPr algn="ctr" indent="0" marL="0">
              <a:lnSpc>
                <a:spcPct val="115000"/>
              </a:lnSpc>
              <a:buNone/>
            </a:pPr>
            <a:r>
              <a:rPr lang="en-US" sz="1150" dirty="0">
                <a:solidFill>
                  <a:srgbClr val="5B6B82"/>
                </a:solidFill>
                <a:latin typeface="Calibri" pitchFamily="34" charset="0"/>
                <a:ea typeface="Calibri" pitchFamily="34" charset="-122"/>
                <a:cs typeface="Calibri" pitchFamily="34" charset="-120"/>
              </a:rPr>
              <a:t>Smoother solar and wind integration, plus smarter EV-charging and smart-city load planning.</a:t>
            </a:r>
            <a:endParaRPr lang="en-US" sz="1150" dirty="0"/>
          </a:p>
        </p:txBody>
      </p:sp>
      <p:sp>
        <p:nvSpPr>
          <p:cNvPr id="25" name="Text 18"/>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FFB627"/>
                </a:solidFill>
                <a:latin typeface="Calibri" pitchFamily="34" charset="0"/>
                <a:ea typeface="Calibri" pitchFamily="34" charset="-122"/>
                <a:cs typeface="Calibri" pitchFamily="34" charset="-120"/>
              </a:rPr>
              <a:t>MARKET OPPORTUNITY</a:t>
            </a:r>
            <a:endParaRPr lang="en-US" sz="1200" dirty="0"/>
          </a:p>
        </p:txBody>
      </p:sp>
      <p:sp>
        <p:nvSpPr>
          <p:cNvPr id="3" name="Text 1"/>
          <p:cNvSpPr/>
          <p:nvPr/>
        </p:nvSpPr>
        <p:spPr>
          <a:xfrm>
            <a:off x="548640" y="68580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Concrete, Large Market</a:t>
            </a:r>
            <a:endParaRPr lang="en-US" sz="3200" dirty="0"/>
          </a:p>
        </p:txBody>
      </p:sp>
      <p:sp>
        <p:nvSpPr>
          <p:cNvPr id="4" name="Shape 2"/>
          <p:cNvSpPr/>
          <p:nvPr/>
        </p:nvSpPr>
        <p:spPr>
          <a:xfrm>
            <a:off x="548640" y="1828800"/>
            <a:ext cx="2606040" cy="1737360"/>
          </a:xfrm>
          <a:prstGeom prst="roundRect">
            <a:avLst>
              <a:gd name="adj" fmla="val 6316"/>
            </a:avLst>
          </a:prstGeom>
          <a:solidFill>
            <a:srgbClr val="182F52"/>
          </a:solidFill>
          <a:ln/>
        </p:spPr>
      </p:sp>
      <p:sp>
        <p:nvSpPr>
          <p:cNvPr id="5" name="Text 3"/>
          <p:cNvSpPr/>
          <p:nvPr/>
        </p:nvSpPr>
        <p:spPr>
          <a:xfrm>
            <a:off x="548640" y="2029968"/>
            <a:ext cx="2606040" cy="68580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36</a:t>
            </a:r>
            <a:endParaRPr lang="en-US" sz="3000" dirty="0"/>
          </a:p>
        </p:txBody>
      </p:sp>
      <p:sp>
        <p:nvSpPr>
          <p:cNvPr id="6" name="Text 4"/>
          <p:cNvSpPr/>
          <p:nvPr/>
        </p:nvSpPr>
        <p:spPr>
          <a:xfrm>
            <a:off x="685800" y="2697480"/>
            <a:ext cx="2331720" cy="777240"/>
          </a:xfrm>
          <a:prstGeom prst="rect">
            <a:avLst/>
          </a:prstGeom>
          <a:noFill/>
          <a:ln/>
        </p:spPr>
        <p:txBody>
          <a:bodyPr wrap="square" lIns="0" tIns="0" rIns="0" bIns="0"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State Load Despatch Centres — one per state / UT</a:t>
            </a:r>
            <a:endParaRPr lang="en-US" sz="1100" dirty="0"/>
          </a:p>
        </p:txBody>
      </p:sp>
      <p:sp>
        <p:nvSpPr>
          <p:cNvPr id="7" name="Shape 5"/>
          <p:cNvSpPr/>
          <p:nvPr/>
        </p:nvSpPr>
        <p:spPr>
          <a:xfrm>
            <a:off x="3383280" y="1828800"/>
            <a:ext cx="2606040" cy="1737360"/>
          </a:xfrm>
          <a:prstGeom prst="roundRect">
            <a:avLst>
              <a:gd name="adj" fmla="val 6316"/>
            </a:avLst>
          </a:prstGeom>
          <a:solidFill>
            <a:srgbClr val="182F52"/>
          </a:solidFill>
          <a:ln/>
        </p:spPr>
      </p:sp>
      <p:sp>
        <p:nvSpPr>
          <p:cNvPr id="8" name="Text 6"/>
          <p:cNvSpPr/>
          <p:nvPr/>
        </p:nvSpPr>
        <p:spPr>
          <a:xfrm>
            <a:off x="3383280" y="2029968"/>
            <a:ext cx="2606040" cy="68580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70+</a:t>
            </a:r>
            <a:endParaRPr lang="en-US" sz="3000" dirty="0"/>
          </a:p>
        </p:txBody>
      </p:sp>
      <p:sp>
        <p:nvSpPr>
          <p:cNvPr id="9" name="Text 7"/>
          <p:cNvSpPr/>
          <p:nvPr/>
        </p:nvSpPr>
        <p:spPr>
          <a:xfrm>
            <a:off x="3520440" y="2697480"/>
            <a:ext cx="2331720" cy="777240"/>
          </a:xfrm>
          <a:prstGeom prst="rect">
            <a:avLst/>
          </a:prstGeom>
          <a:noFill/>
          <a:ln/>
        </p:spPr>
        <p:txBody>
          <a:bodyPr wrap="square" lIns="0" tIns="0" rIns="0" bIns="0"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DISCOMs across India, each a potential subscriber</a:t>
            </a:r>
            <a:endParaRPr lang="en-US" sz="1100" dirty="0"/>
          </a:p>
        </p:txBody>
      </p:sp>
      <p:sp>
        <p:nvSpPr>
          <p:cNvPr id="10" name="Shape 8"/>
          <p:cNvSpPr/>
          <p:nvPr/>
        </p:nvSpPr>
        <p:spPr>
          <a:xfrm>
            <a:off x="6217920" y="1828800"/>
            <a:ext cx="2606040" cy="1737360"/>
          </a:xfrm>
          <a:prstGeom prst="roundRect">
            <a:avLst>
              <a:gd name="adj" fmla="val 6316"/>
            </a:avLst>
          </a:prstGeom>
          <a:solidFill>
            <a:srgbClr val="182F52"/>
          </a:solidFill>
          <a:ln/>
        </p:spPr>
      </p:sp>
      <p:sp>
        <p:nvSpPr>
          <p:cNvPr id="11" name="Text 9"/>
          <p:cNvSpPr/>
          <p:nvPr/>
        </p:nvSpPr>
        <p:spPr>
          <a:xfrm>
            <a:off x="6217920" y="2029968"/>
            <a:ext cx="2606040" cy="68580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5 + 1</a:t>
            </a:r>
            <a:endParaRPr lang="en-US" sz="3000" dirty="0"/>
          </a:p>
        </p:txBody>
      </p:sp>
      <p:sp>
        <p:nvSpPr>
          <p:cNvPr id="12" name="Text 10"/>
          <p:cNvSpPr/>
          <p:nvPr/>
        </p:nvSpPr>
        <p:spPr>
          <a:xfrm>
            <a:off x="6355080" y="2697480"/>
            <a:ext cx="2331720" cy="777240"/>
          </a:xfrm>
          <a:prstGeom prst="rect">
            <a:avLst/>
          </a:prstGeom>
          <a:noFill/>
          <a:ln/>
        </p:spPr>
        <p:txBody>
          <a:bodyPr wrap="square" lIns="0" tIns="0" rIns="0" bIns="0"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Regional load-despatch centres, plus 1 national centre</a:t>
            </a:r>
            <a:endParaRPr lang="en-US" sz="1100" dirty="0"/>
          </a:p>
        </p:txBody>
      </p:sp>
      <p:sp>
        <p:nvSpPr>
          <p:cNvPr id="13" name="Shape 11"/>
          <p:cNvSpPr/>
          <p:nvPr/>
        </p:nvSpPr>
        <p:spPr>
          <a:xfrm>
            <a:off x="9052560" y="1828800"/>
            <a:ext cx="2606040" cy="1737360"/>
          </a:xfrm>
          <a:prstGeom prst="roundRect">
            <a:avLst>
              <a:gd name="adj" fmla="val 6316"/>
            </a:avLst>
          </a:prstGeom>
          <a:solidFill>
            <a:srgbClr val="182F52"/>
          </a:solidFill>
          <a:ln/>
        </p:spPr>
      </p:sp>
      <p:sp>
        <p:nvSpPr>
          <p:cNvPr id="14" name="Text 12"/>
          <p:cNvSpPr/>
          <p:nvPr/>
        </p:nvSpPr>
        <p:spPr>
          <a:xfrm>
            <a:off x="9052560" y="2029968"/>
            <a:ext cx="2606040" cy="685800"/>
          </a:xfrm>
          <a:prstGeom prst="rect">
            <a:avLst/>
          </a:prstGeom>
          <a:noFill/>
          <a:ln/>
        </p:spPr>
        <p:txBody>
          <a:bodyPr wrap="square" lIns="0" tIns="0" rIns="0" bIns="0" rtlCol="0" anchor="ctr"/>
          <a:lstStyle/>
          <a:p>
            <a:pPr algn="ctr" indent="0" marL="0">
              <a:buNone/>
            </a:pPr>
            <a:r>
              <a:rPr lang="en-US" sz="3000" b="1" dirty="0">
                <a:solidFill>
                  <a:srgbClr val="FFB627"/>
                </a:solidFill>
                <a:latin typeface="Cambria" pitchFamily="34" charset="0"/>
                <a:ea typeface="Cambria" pitchFamily="34" charset="-122"/>
                <a:cs typeface="Cambria" pitchFamily="34" charset="-120"/>
              </a:rPr>
              <a:t>250+ GW</a:t>
            </a:r>
            <a:endParaRPr lang="en-US" sz="3000" dirty="0"/>
          </a:p>
        </p:txBody>
      </p:sp>
      <p:sp>
        <p:nvSpPr>
          <p:cNvPr id="15" name="Text 13"/>
          <p:cNvSpPr/>
          <p:nvPr/>
        </p:nvSpPr>
        <p:spPr>
          <a:xfrm>
            <a:off x="9189720" y="2697480"/>
            <a:ext cx="2331720" cy="777240"/>
          </a:xfrm>
          <a:prstGeom prst="rect">
            <a:avLst/>
          </a:prstGeom>
          <a:noFill/>
          <a:ln/>
        </p:spPr>
        <p:txBody>
          <a:bodyPr wrap="square" lIns="0" tIns="0" rIns="0" bIns="0" rtlCol="0" anchor="t"/>
          <a:lstStyle/>
          <a:p>
            <a:pPr algn="ctr" indent="0" marL="0">
              <a:buNone/>
            </a:pPr>
            <a:r>
              <a:rPr lang="en-US" sz="1100" dirty="0">
                <a:solidFill>
                  <a:srgbClr val="CADCFC"/>
                </a:solidFill>
                <a:latin typeface="Calibri" pitchFamily="34" charset="0"/>
                <a:ea typeface="Calibri" pitchFamily="34" charset="-122"/>
                <a:cs typeface="Calibri" pitchFamily="34" charset="-120"/>
              </a:rPr>
              <a:t>India's 2024 peak demand — rising fast</a:t>
            </a:r>
            <a:endParaRPr lang="en-US" sz="1100" dirty="0"/>
          </a:p>
        </p:txBody>
      </p:sp>
      <p:sp>
        <p:nvSpPr>
          <p:cNvPr id="16" name="Shape 14"/>
          <p:cNvSpPr/>
          <p:nvPr/>
        </p:nvSpPr>
        <p:spPr>
          <a:xfrm>
            <a:off x="548640" y="3886200"/>
            <a:ext cx="11064240" cy="1691640"/>
          </a:xfrm>
          <a:prstGeom prst="roundRect">
            <a:avLst>
              <a:gd name="adj" fmla="val 6486"/>
            </a:avLst>
          </a:prstGeom>
          <a:solidFill>
            <a:srgbClr val="182F52"/>
          </a:solidFill>
          <a:ln/>
        </p:spPr>
      </p:sp>
      <p:sp>
        <p:nvSpPr>
          <p:cNvPr id="17" name="Text 15"/>
          <p:cNvSpPr/>
          <p:nvPr/>
        </p:nvSpPr>
        <p:spPr>
          <a:xfrm>
            <a:off x="822960" y="4069080"/>
            <a:ext cx="1051560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Global AI-in-energy / load-forecasting analytics market: </a:t>
            </a:r>
            <a:pPr indent="0" marL="0">
              <a:buNone/>
            </a:pPr>
            <a:r>
              <a:rPr lang="en-US" sz="1500" b="1" dirty="0">
                <a:solidFill>
                  <a:srgbClr val="FFB627"/>
                </a:solidFill>
                <a:latin typeface="Calibri" pitchFamily="34" charset="0"/>
                <a:ea typeface="Calibri" pitchFamily="34" charset="-122"/>
                <a:cs typeface="Calibri" pitchFamily="34" charset="-120"/>
              </a:rPr>
              <a:t>billions of USD, strong double-digit CAGR.</a:t>
            </a:r>
            <a:endParaRPr lang="en-US" sz="1500" dirty="0"/>
          </a:p>
        </p:txBody>
      </p:sp>
      <p:sp>
        <p:nvSpPr>
          <p:cNvPr id="18" name="Text 16"/>
          <p:cNvSpPr/>
          <p:nvPr/>
        </p:nvSpPr>
        <p:spPr>
          <a:xfrm>
            <a:off x="822960" y="4526280"/>
            <a:ext cx="10515600" cy="914400"/>
          </a:xfrm>
          <a:prstGeom prst="rect">
            <a:avLst/>
          </a:prstGeom>
          <a:noFill/>
          <a:ln/>
        </p:spPr>
        <p:txBody>
          <a:bodyPr wrap="square" lIns="0" tIns="0" rIns="0" bIns="0" rtlCol="0" anchor="t"/>
          <a:lstStyle/>
          <a:p>
            <a:pPr indent="0" marL="0">
              <a:buNone/>
            </a:pPr>
            <a:r>
              <a:rPr lang="en-US" sz="1350" dirty="0">
                <a:solidFill>
                  <a:srgbClr val="A9BBDC"/>
                </a:solidFill>
                <a:latin typeface="Calibri" pitchFamily="34" charset="0"/>
                <a:ea typeface="Calibri" pitchFamily="34" charset="-122"/>
                <a:cs typeface="Calibri" pitchFamily="34" charset="-120"/>
              </a:rPr>
              <a:t>Gridalytics is a B2B SaaS with recurring revenue and high margins, already running at near-zero infrastructure cost — a scalable, high-ROI energy-efficiency business.</a:t>
            </a:r>
            <a:endParaRPr lang="en-US" sz="1350" dirty="0"/>
          </a:p>
        </p:txBody>
      </p:sp>
      <p:sp>
        <p:nvSpPr>
          <p:cNvPr id="20" name="Text 17"/>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7315200" cy="320040"/>
          </a:xfrm>
          <a:prstGeom prst="rect">
            <a:avLst/>
          </a:prstGeom>
          <a:noFill/>
          <a:ln/>
        </p:spPr>
        <p:txBody>
          <a:bodyPr wrap="square" lIns="0" tIns="0" rIns="0" bIns="0" rtlCol="0" anchor="ctr"/>
          <a:lstStyle/>
          <a:p>
            <a:pPr indent="0" marL="0">
              <a:buNone/>
            </a:pPr>
            <a:r>
              <a:rPr lang="en-US" sz="1200" b="1" spc="200" kern="0" dirty="0">
                <a:solidFill>
                  <a:srgbClr val="1C93A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85800"/>
            <a:ext cx="10515600" cy="731520"/>
          </a:xfrm>
          <a:prstGeom prst="rect">
            <a:avLst/>
          </a:prstGeom>
          <a:noFill/>
          <a:ln/>
        </p:spPr>
        <p:txBody>
          <a:bodyPr wrap="square" lIns="0" tIns="0" rIns="0" bIns="0" rtlCol="0" anchor="ctr"/>
          <a:lstStyle/>
          <a:p>
            <a:pPr indent="0" marL="0">
              <a:buNone/>
            </a:pPr>
            <a:r>
              <a:rPr lang="en-US" sz="3200" b="1" dirty="0">
                <a:solidFill>
                  <a:srgbClr val="17233F"/>
                </a:solidFill>
                <a:latin typeface="Cambria" pitchFamily="34" charset="0"/>
                <a:ea typeface="Cambria" pitchFamily="34" charset="-122"/>
                <a:cs typeface="Cambria" pitchFamily="34" charset="-120"/>
              </a:rPr>
              <a:t>From Delhi to Every Grid in India</a:t>
            </a:r>
            <a:endParaRPr lang="en-US" sz="3200" dirty="0"/>
          </a:p>
        </p:txBody>
      </p:sp>
      <p:sp>
        <p:nvSpPr>
          <p:cNvPr id="4" name="Shape 2"/>
          <p:cNvSpPr/>
          <p:nvPr/>
        </p:nvSpPr>
        <p:spPr>
          <a:xfrm>
            <a:off x="1188720" y="2697480"/>
            <a:ext cx="9784080" cy="0"/>
          </a:xfrm>
          <a:prstGeom prst="line">
            <a:avLst/>
          </a:prstGeom>
          <a:noFill/>
          <a:ln w="25400">
            <a:solidFill>
              <a:srgbClr val="D8E0EC"/>
            </a:solidFill>
            <a:prstDash val="solid"/>
          </a:ln>
        </p:spPr>
      </p:sp>
      <p:sp>
        <p:nvSpPr>
          <p:cNvPr id="5" name="Shape 3"/>
          <p:cNvSpPr/>
          <p:nvPr/>
        </p:nvSpPr>
        <p:spPr>
          <a:xfrm>
            <a:off x="1554480" y="2377440"/>
            <a:ext cx="640080" cy="640080"/>
          </a:xfrm>
          <a:prstGeom prst="ellipse">
            <a:avLst/>
          </a:prstGeom>
          <a:solidFill>
            <a:srgbClr val="FFB627"/>
          </a:solidFill>
          <a:ln/>
        </p:spPr>
      </p:sp>
      <p:pic>
        <p:nvPicPr>
          <p:cNvPr id="6" name="Image 0" descr="C:\Users\rupes\AppData\Local\Temp\claude\E--Projects-Gridalytics\b1299509-94b8-4995-bcba-996ea2dce8b4\scratchpad\icons\route.png">    </p:cNvPr>
          <p:cNvPicPr>
            <a:picLocks noChangeAspect="1"/>
          </p:cNvPicPr>
          <p:nvPr/>
        </p:nvPicPr>
        <p:blipFill>
          <a:blip r:embed="rId1"/>
          <a:stretch>
            <a:fillRect/>
          </a:stretch>
        </p:blipFill>
        <p:spPr>
          <a:xfrm>
            <a:off x="1720901" y="2543861"/>
            <a:ext cx="307238" cy="307238"/>
          </a:xfrm>
          <a:prstGeom prst="rect">
            <a:avLst/>
          </a:prstGeom>
        </p:spPr>
      </p:pic>
      <p:sp>
        <p:nvSpPr>
          <p:cNvPr id="7" name="Text 4"/>
          <p:cNvSpPr/>
          <p:nvPr/>
        </p:nvSpPr>
        <p:spPr>
          <a:xfrm>
            <a:off x="548640" y="3246120"/>
            <a:ext cx="2651760" cy="365760"/>
          </a:xfrm>
          <a:prstGeom prst="rect">
            <a:avLst/>
          </a:prstGeom>
          <a:noFill/>
          <a:ln/>
        </p:spPr>
        <p:txBody>
          <a:bodyPr wrap="square" lIns="0" tIns="0" rIns="0" bIns="0" rtlCol="0" anchor="ctr"/>
          <a:lstStyle/>
          <a:p>
            <a:pPr algn="ctr" indent="0" marL="0">
              <a:buNone/>
            </a:pPr>
            <a:r>
              <a:rPr lang="en-US" sz="1600" b="1" dirty="0">
                <a:solidFill>
                  <a:srgbClr val="17233F"/>
                </a:solidFill>
                <a:latin typeface="Cambria" pitchFamily="34" charset="0"/>
                <a:ea typeface="Cambria" pitchFamily="34" charset="-122"/>
                <a:cs typeface="Cambria" pitchFamily="34" charset="-120"/>
              </a:rPr>
              <a:t>Today</a:t>
            </a:r>
            <a:endParaRPr lang="en-US" sz="1600" dirty="0"/>
          </a:p>
        </p:txBody>
      </p:sp>
      <p:sp>
        <p:nvSpPr>
          <p:cNvPr id="8" name="Text 5"/>
          <p:cNvSpPr/>
          <p:nvPr/>
        </p:nvSpPr>
        <p:spPr>
          <a:xfrm>
            <a:off x="685800" y="3657600"/>
            <a:ext cx="2377440" cy="1554480"/>
          </a:xfrm>
          <a:prstGeom prst="rect">
            <a:avLst/>
          </a:prstGeom>
          <a:noFill/>
          <a:ln/>
        </p:spPr>
        <p:txBody>
          <a:bodyPr wrap="square" lIns="0" tIns="0" rIns="0" bIns="0" rtlCol="0" anchor="t"/>
          <a:lstStyle/>
          <a:p>
            <a:pPr algn="ctr" indent="0" marL="0">
              <a:lnSpc>
                <a:spcPct val="115000"/>
              </a:lnSpc>
              <a:buNone/>
            </a:pPr>
            <a:r>
              <a:rPr lang="en-US" sz="1200" dirty="0">
                <a:solidFill>
                  <a:srgbClr val="5B6B82"/>
                </a:solidFill>
                <a:latin typeface="Calibri" pitchFamily="34" charset="0"/>
                <a:ea typeface="Calibri" pitchFamily="34" charset="-122"/>
                <a:cs typeface="Calibri" pitchFamily="34" charset="-120"/>
              </a:rPr>
              <a:t>Delhi live: 5+ years of real data, deployed, monitored, 29-day tracked accuracy</a:t>
            </a:r>
            <a:endParaRPr lang="en-US" sz="1200" dirty="0"/>
          </a:p>
        </p:txBody>
      </p:sp>
      <p:sp>
        <p:nvSpPr>
          <p:cNvPr id="9" name="Shape 6"/>
          <p:cNvSpPr/>
          <p:nvPr/>
        </p:nvSpPr>
        <p:spPr>
          <a:xfrm>
            <a:off x="4343400" y="2377440"/>
            <a:ext cx="640080" cy="640080"/>
          </a:xfrm>
          <a:prstGeom prst="ellipse">
            <a:avLst/>
          </a:prstGeom>
          <a:solidFill>
            <a:srgbClr val="0B1F3A"/>
          </a:solidFill>
          <a:ln/>
        </p:spPr>
      </p:sp>
      <p:pic>
        <p:nvPicPr>
          <p:cNvPr id="10" name="Image 1" descr="C:\Users\rupes\AppData\Local\Temp\claude\E--Projects-Gridalytics\b1299509-94b8-4995-bcba-996ea2dce8b4\scratchpad\icons\route.png">    </p:cNvPr>
          <p:cNvPicPr>
            <a:picLocks noChangeAspect="1"/>
          </p:cNvPicPr>
          <p:nvPr/>
        </p:nvPicPr>
        <p:blipFill>
          <a:blip r:embed="rId2"/>
          <a:stretch>
            <a:fillRect/>
          </a:stretch>
        </p:blipFill>
        <p:spPr>
          <a:xfrm>
            <a:off x="4509821" y="2543861"/>
            <a:ext cx="307238" cy="307238"/>
          </a:xfrm>
          <a:prstGeom prst="rect">
            <a:avLst/>
          </a:prstGeom>
        </p:spPr>
      </p:pic>
      <p:sp>
        <p:nvSpPr>
          <p:cNvPr id="11" name="Text 7"/>
          <p:cNvSpPr/>
          <p:nvPr/>
        </p:nvSpPr>
        <p:spPr>
          <a:xfrm>
            <a:off x="3337560" y="3246120"/>
            <a:ext cx="2651760" cy="365760"/>
          </a:xfrm>
          <a:prstGeom prst="rect">
            <a:avLst/>
          </a:prstGeom>
          <a:noFill/>
          <a:ln/>
        </p:spPr>
        <p:txBody>
          <a:bodyPr wrap="square" lIns="0" tIns="0" rIns="0" bIns="0" rtlCol="0" anchor="ctr"/>
          <a:lstStyle/>
          <a:p>
            <a:pPr algn="ctr" indent="0" marL="0">
              <a:buNone/>
            </a:pPr>
            <a:r>
              <a:rPr lang="en-US" sz="1600" b="1" dirty="0">
                <a:solidFill>
                  <a:srgbClr val="17233F"/>
                </a:solidFill>
                <a:latin typeface="Cambria" pitchFamily="34" charset="0"/>
                <a:ea typeface="Cambria" pitchFamily="34" charset="-122"/>
                <a:cs typeface="Cambria" pitchFamily="34" charset="-120"/>
              </a:rPr>
              <a:t>Next</a:t>
            </a:r>
            <a:endParaRPr lang="en-US" sz="1600" dirty="0"/>
          </a:p>
        </p:txBody>
      </p:sp>
      <p:sp>
        <p:nvSpPr>
          <p:cNvPr id="12" name="Text 8"/>
          <p:cNvSpPr/>
          <p:nvPr/>
        </p:nvSpPr>
        <p:spPr>
          <a:xfrm>
            <a:off x="3474720" y="3657600"/>
            <a:ext cx="2377440" cy="1554480"/>
          </a:xfrm>
          <a:prstGeom prst="rect">
            <a:avLst/>
          </a:prstGeom>
          <a:noFill/>
          <a:ln/>
        </p:spPr>
        <p:txBody>
          <a:bodyPr wrap="square" lIns="0" tIns="0" rIns="0" bIns="0" rtlCol="0" anchor="t"/>
          <a:lstStyle/>
          <a:p>
            <a:pPr algn="ctr" indent="0" marL="0">
              <a:lnSpc>
                <a:spcPct val="115000"/>
              </a:lnSpc>
              <a:buNone/>
            </a:pPr>
            <a:r>
              <a:rPr lang="en-US" sz="1200" dirty="0">
                <a:solidFill>
                  <a:srgbClr val="5B6B82"/>
                </a:solidFill>
                <a:latin typeface="Calibri" pitchFamily="34" charset="0"/>
                <a:ea typeface="Calibri" pitchFamily="34" charset="-122"/>
                <a:cs typeface="Calibri" pitchFamily="34" charset="-120"/>
              </a:rPr>
              <a:t>Expand state-by-state — the same engine, retrained on each grid's local SCADA data</a:t>
            </a:r>
            <a:endParaRPr lang="en-US" sz="1200" dirty="0"/>
          </a:p>
        </p:txBody>
      </p:sp>
      <p:sp>
        <p:nvSpPr>
          <p:cNvPr id="13" name="Shape 9"/>
          <p:cNvSpPr/>
          <p:nvPr/>
        </p:nvSpPr>
        <p:spPr>
          <a:xfrm>
            <a:off x="7132320" y="2377440"/>
            <a:ext cx="640080" cy="640080"/>
          </a:xfrm>
          <a:prstGeom prst="ellipse">
            <a:avLst/>
          </a:prstGeom>
          <a:solidFill>
            <a:srgbClr val="0B1F3A"/>
          </a:solidFill>
          <a:ln/>
        </p:spPr>
      </p:sp>
      <p:pic>
        <p:nvPicPr>
          <p:cNvPr id="14" name="Image 2" descr="C:\Users\rupes\AppData\Local\Temp\claude\E--Projects-Gridalytics\b1299509-94b8-4995-bcba-996ea2dce8b4\scratchpad\icons\route.png">    </p:cNvPr>
          <p:cNvPicPr>
            <a:picLocks noChangeAspect="1"/>
          </p:cNvPicPr>
          <p:nvPr/>
        </p:nvPicPr>
        <p:blipFill>
          <a:blip r:embed="rId3"/>
          <a:stretch>
            <a:fillRect/>
          </a:stretch>
        </p:blipFill>
        <p:spPr>
          <a:xfrm>
            <a:off x="7298741" y="2543861"/>
            <a:ext cx="307238" cy="307238"/>
          </a:xfrm>
          <a:prstGeom prst="rect">
            <a:avLst/>
          </a:prstGeom>
        </p:spPr>
      </p:pic>
      <p:sp>
        <p:nvSpPr>
          <p:cNvPr id="15" name="Text 10"/>
          <p:cNvSpPr/>
          <p:nvPr/>
        </p:nvSpPr>
        <p:spPr>
          <a:xfrm>
            <a:off x="6126480" y="3246120"/>
            <a:ext cx="2651760" cy="365760"/>
          </a:xfrm>
          <a:prstGeom prst="rect">
            <a:avLst/>
          </a:prstGeom>
          <a:noFill/>
          <a:ln/>
        </p:spPr>
        <p:txBody>
          <a:bodyPr wrap="square" lIns="0" tIns="0" rIns="0" bIns="0" rtlCol="0" anchor="ctr"/>
          <a:lstStyle/>
          <a:p>
            <a:pPr algn="ctr" indent="0" marL="0">
              <a:buNone/>
            </a:pPr>
            <a:r>
              <a:rPr lang="en-US" sz="1600" b="1" dirty="0">
                <a:solidFill>
                  <a:srgbClr val="17233F"/>
                </a:solidFill>
                <a:latin typeface="Cambria" pitchFamily="34" charset="0"/>
                <a:ea typeface="Cambria" pitchFamily="34" charset="-122"/>
                <a:cs typeface="Cambria" pitchFamily="34" charset="-120"/>
              </a:rPr>
              <a:t>Then</a:t>
            </a:r>
            <a:endParaRPr lang="en-US" sz="1600" dirty="0"/>
          </a:p>
        </p:txBody>
      </p:sp>
      <p:sp>
        <p:nvSpPr>
          <p:cNvPr id="16" name="Text 11"/>
          <p:cNvSpPr/>
          <p:nvPr/>
        </p:nvSpPr>
        <p:spPr>
          <a:xfrm>
            <a:off x="6263640" y="3657600"/>
            <a:ext cx="2377440" cy="1554480"/>
          </a:xfrm>
          <a:prstGeom prst="rect">
            <a:avLst/>
          </a:prstGeom>
          <a:noFill/>
          <a:ln/>
        </p:spPr>
        <p:txBody>
          <a:bodyPr wrap="square" lIns="0" tIns="0" rIns="0" bIns="0" rtlCol="0" anchor="t"/>
          <a:lstStyle/>
          <a:p>
            <a:pPr algn="ctr" indent="0" marL="0">
              <a:lnSpc>
                <a:spcPct val="115000"/>
              </a:lnSpc>
              <a:buNone/>
            </a:pPr>
            <a:r>
              <a:rPr lang="en-US" sz="1200" dirty="0">
                <a:solidFill>
                  <a:srgbClr val="5B6B82"/>
                </a:solidFill>
                <a:latin typeface="Calibri" pitchFamily="34" charset="0"/>
                <a:ea typeface="Calibri" pitchFamily="34" charset="-122"/>
                <a:cs typeface="Calibri" pitchFamily="34" charset="-120"/>
              </a:rPr>
              <a:t>National multi-DISCOM SaaS platform serving SLDCs, exchanges and gencos</a:t>
            </a:r>
            <a:endParaRPr lang="en-US" sz="1200" dirty="0"/>
          </a:p>
        </p:txBody>
      </p:sp>
      <p:sp>
        <p:nvSpPr>
          <p:cNvPr id="17" name="Shape 12"/>
          <p:cNvSpPr/>
          <p:nvPr/>
        </p:nvSpPr>
        <p:spPr>
          <a:xfrm>
            <a:off x="9921240" y="2377440"/>
            <a:ext cx="640080" cy="640080"/>
          </a:xfrm>
          <a:prstGeom prst="ellipse">
            <a:avLst/>
          </a:prstGeom>
          <a:solidFill>
            <a:srgbClr val="0B1F3A"/>
          </a:solidFill>
          <a:ln/>
        </p:spPr>
      </p:sp>
      <p:pic>
        <p:nvPicPr>
          <p:cNvPr id="18" name="Image 3" descr="C:\Users\rupes\AppData\Local\Temp\claude\E--Projects-Gridalytics\b1299509-94b8-4995-bcba-996ea2dce8b4\scratchpad\icons\route.png">    </p:cNvPr>
          <p:cNvPicPr>
            <a:picLocks noChangeAspect="1"/>
          </p:cNvPicPr>
          <p:nvPr/>
        </p:nvPicPr>
        <p:blipFill>
          <a:blip r:embed="rId4"/>
          <a:stretch>
            <a:fillRect/>
          </a:stretch>
        </p:blipFill>
        <p:spPr>
          <a:xfrm>
            <a:off x="10087661" y="2543861"/>
            <a:ext cx="307238" cy="307238"/>
          </a:xfrm>
          <a:prstGeom prst="rect">
            <a:avLst/>
          </a:prstGeom>
        </p:spPr>
      </p:pic>
      <p:sp>
        <p:nvSpPr>
          <p:cNvPr id="19" name="Text 13"/>
          <p:cNvSpPr/>
          <p:nvPr/>
        </p:nvSpPr>
        <p:spPr>
          <a:xfrm>
            <a:off x="8915400" y="3246120"/>
            <a:ext cx="2651760" cy="365760"/>
          </a:xfrm>
          <a:prstGeom prst="rect">
            <a:avLst/>
          </a:prstGeom>
          <a:noFill/>
          <a:ln/>
        </p:spPr>
        <p:txBody>
          <a:bodyPr wrap="square" lIns="0" tIns="0" rIns="0" bIns="0" rtlCol="0" anchor="ctr"/>
          <a:lstStyle/>
          <a:p>
            <a:pPr algn="ctr" indent="0" marL="0">
              <a:buNone/>
            </a:pPr>
            <a:r>
              <a:rPr lang="en-US" sz="1600" b="1" dirty="0">
                <a:solidFill>
                  <a:srgbClr val="17233F"/>
                </a:solidFill>
                <a:latin typeface="Cambria" pitchFamily="34" charset="0"/>
                <a:ea typeface="Cambria" pitchFamily="34" charset="-122"/>
                <a:cs typeface="Cambria" pitchFamily="34" charset="-120"/>
              </a:rPr>
              <a:t>Beyond</a:t>
            </a:r>
            <a:endParaRPr lang="en-US" sz="1600" dirty="0"/>
          </a:p>
        </p:txBody>
      </p:sp>
      <p:sp>
        <p:nvSpPr>
          <p:cNvPr id="20" name="Text 14"/>
          <p:cNvSpPr/>
          <p:nvPr/>
        </p:nvSpPr>
        <p:spPr>
          <a:xfrm>
            <a:off x="9052560" y="3657600"/>
            <a:ext cx="2377440" cy="1554480"/>
          </a:xfrm>
          <a:prstGeom prst="rect">
            <a:avLst/>
          </a:prstGeom>
          <a:noFill/>
          <a:ln/>
        </p:spPr>
        <p:txBody>
          <a:bodyPr wrap="square" lIns="0" tIns="0" rIns="0" bIns="0" rtlCol="0" anchor="t"/>
          <a:lstStyle/>
          <a:p>
            <a:pPr algn="ctr" indent="0" marL="0">
              <a:lnSpc>
                <a:spcPct val="115000"/>
              </a:lnSpc>
              <a:buNone/>
            </a:pPr>
            <a:r>
              <a:rPr lang="en-US" sz="1200" dirty="0">
                <a:solidFill>
                  <a:srgbClr val="5B6B82"/>
                </a:solidFill>
                <a:latin typeface="Calibri" pitchFamily="34" charset="0"/>
                <a:ea typeface="Calibri" pitchFamily="34" charset="-122"/>
                <a:cs typeface="Calibri" pitchFamily="34" charset="-120"/>
              </a:rPr>
              <a:t>Full grid-intelligence suite — demand response, EV load, smart-city integration</a:t>
            </a:r>
            <a:endParaRPr lang="en-US" sz="1200" dirty="0"/>
          </a:p>
        </p:txBody>
      </p:sp>
      <p:sp>
        <p:nvSpPr>
          <p:cNvPr id="22" name="Text 15"/>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38648" y="822960"/>
            <a:ext cx="914400" cy="914400"/>
          </a:xfrm>
          <a:prstGeom prst="ellipse">
            <a:avLst/>
          </a:prstGeom>
          <a:solidFill>
            <a:srgbClr val="182F52"/>
          </a:solidFill>
          <a:ln/>
        </p:spPr>
      </p:sp>
      <p:pic>
        <p:nvPicPr>
          <p:cNvPr id="3" name="Image 0" descr="C:\Users\rupes\AppData\Local\Temp\claude\E--Projects-Gridalytics\b1299509-94b8-4995-bcba-996ea2dce8b4\scratchpad\icons\rocket.png">    </p:cNvPr>
          <p:cNvPicPr>
            <a:picLocks noChangeAspect="1"/>
          </p:cNvPicPr>
          <p:nvPr/>
        </p:nvPicPr>
        <p:blipFill>
          <a:blip r:embed="rId1"/>
          <a:stretch>
            <a:fillRect/>
          </a:stretch>
        </p:blipFill>
        <p:spPr>
          <a:xfrm>
            <a:off x="5867248" y="1051560"/>
            <a:ext cx="457200" cy="457200"/>
          </a:xfrm>
          <a:prstGeom prst="rect">
            <a:avLst/>
          </a:prstGeom>
        </p:spPr>
      </p:pic>
      <p:sp>
        <p:nvSpPr>
          <p:cNvPr id="4" name="Text 1"/>
          <p:cNvSpPr/>
          <p:nvPr/>
        </p:nvSpPr>
        <p:spPr>
          <a:xfrm>
            <a:off x="914400" y="1965960"/>
            <a:ext cx="10332720" cy="1005840"/>
          </a:xfrm>
          <a:prstGeom prst="rect">
            <a:avLst/>
          </a:prstGeom>
          <a:noFill/>
          <a:ln/>
        </p:spPr>
        <p:txBody>
          <a:bodyPr wrap="square" lIns="0" tIns="0" rIns="0" bIns="0" rtlCol="0" anchor="ctr"/>
          <a:lstStyle/>
          <a:p>
            <a:pPr algn="ctr" indent="0" marL="0">
              <a:buNone/>
            </a:pPr>
            <a:r>
              <a:rPr lang="en-US" sz="2600" b="1" i="1" dirty="0">
                <a:solidFill>
                  <a:srgbClr val="FFB627"/>
                </a:solidFill>
                <a:latin typeface="Cambria" pitchFamily="34" charset="0"/>
                <a:ea typeface="Cambria" pitchFamily="34" charset="-122"/>
                <a:cs typeface="Cambria" pitchFamily="34" charset="-120"/>
              </a:rPr>
              <a:t>Every 1% forecast improvement saves crores in fuel, penalties and reserves.</a:t>
            </a:r>
            <a:endParaRPr lang="en-US" sz="2600" dirty="0"/>
          </a:p>
        </p:txBody>
      </p:sp>
      <p:sp>
        <p:nvSpPr>
          <p:cNvPr id="5" name="Text 2"/>
          <p:cNvSpPr/>
          <p:nvPr/>
        </p:nvSpPr>
        <p:spPr>
          <a:xfrm>
            <a:off x="1371600" y="3063240"/>
            <a:ext cx="9418320" cy="822960"/>
          </a:xfrm>
          <a:prstGeom prst="rect">
            <a:avLst/>
          </a:prstGeom>
          <a:noFill/>
          <a:ln/>
        </p:spPr>
        <p:txBody>
          <a:bodyPr wrap="square" lIns="0" tIns="0" rIns="0" bIns="0"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Making India's electricity system measurably more efficient, reliable, and ready for AI-, EV- and industry-driven demand growth.</a:t>
            </a:r>
            <a:endParaRPr lang="en-US" sz="1600" dirty="0"/>
          </a:p>
        </p:txBody>
      </p:sp>
      <p:sp>
        <p:nvSpPr>
          <p:cNvPr id="6" name="Shape 3"/>
          <p:cNvSpPr/>
          <p:nvPr/>
        </p:nvSpPr>
        <p:spPr>
          <a:xfrm>
            <a:off x="3200400" y="4160520"/>
            <a:ext cx="5760720" cy="0"/>
          </a:xfrm>
          <a:prstGeom prst="line">
            <a:avLst/>
          </a:prstGeom>
          <a:noFill/>
          <a:ln w="12700">
            <a:solidFill>
              <a:srgbClr val="2A4066"/>
            </a:solidFill>
            <a:prstDash val="solid"/>
          </a:ln>
        </p:spPr>
      </p:sp>
      <p:sp>
        <p:nvSpPr>
          <p:cNvPr id="7" name="Text 4"/>
          <p:cNvSpPr/>
          <p:nvPr/>
        </p:nvSpPr>
        <p:spPr>
          <a:xfrm>
            <a:off x="914400" y="4389120"/>
            <a:ext cx="1033272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Thank You</a:t>
            </a:r>
            <a:endParaRPr lang="en-US" sz="2400" dirty="0"/>
          </a:p>
        </p:txBody>
      </p:sp>
      <p:sp>
        <p:nvSpPr>
          <p:cNvPr id="8" name="Text 5"/>
          <p:cNvSpPr/>
          <p:nvPr/>
        </p:nvSpPr>
        <p:spPr>
          <a:xfrm>
            <a:off x="914400" y="4983480"/>
            <a:ext cx="10332720" cy="365760"/>
          </a:xfrm>
          <a:prstGeom prst="rect">
            <a:avLst/>
          </a:prstGeom>
          <a:noFill/>
          <a:ln/>
        </p:spPr>
        <p:txBody>
          <a:bodyPr wrap="square" lIns="0" tIns="0" rIns="0" bIns="0" rtlCol="0" anchor="ctr"/>
          <a:lstStyle/>
          <a:p>
            <a:pPr algn="ctr" indent="0" marL="0">
              <a:buNone/>
            </a:pPr>
            <a:r>
              <a:rPr lang="en-US" sz="1300" dirty="0">
                <a:solidFill>
                  <a:srgbClr val="A9BBDC"/>
                </a:solidFill>
                <a:latin typeface="Calibri" pitchFamily="34" charset="0"/>
                <a:ea typeface="Calibri" pitchFamily="34" charset="-122"/>
                <a:cs typeface="Calibri" pitchFamily="34" charset="-120"/>
              </a:rPr>
              <a:t>Sachin B. Lahane   ·   profsachinlahane@gmail.com   ·   8208591437</a:t>
            </a:r>
            <a:endParaRPr lang="en-US" sz="1300" dirty="0"/>
          </a:p>
        </p:txBody>
      </p:sp>
      <p:sp>
        <p:nvSpPr>
          <p:cNvPr id="9" name="Text 6"/>
          <p:cNvSpPr/>
          <p:nvPr/>
        </p:nvSpPr>
        <p:spPr>
          <a:xfrm>
            <a:off x="914400" y="5349240"/>
            <a:ext cx="10332720" cy="365760"/>
          </a:xfrm>
          <a:prstGeom prst="rect">
            <a:avLst/>
          </a:prstGeom>
          <a:noFill/>
          <a:ln/>
        </p:spPr>
        <p:txBody>
          <a:bodyPr wrap="square" lIns="0" tIns="0" rIns="0" bIns="0" rtlCol="0" anchor="ctr"/>
          <a:lstStyle/>
          <a:p>
            <a:pPr algn="ctr" indent="0" marL="0">
              <a:buNone/>
            </a:pPr>
            <a:r>
              <a:rPr lang="en-US" sz="1300" dirty="0">
                <a:solidFill>
                  <a:srgbClr val="A9BBDC"/>
                </a:solidFill>
                <a:latin typeface="Calibri" pitchFamily="34" charset="0"/>
                <a:ea typeface="Calibri" pitchFamily="34" charset="-122"/>
                <a:cs typeface="Calibri" pitchFamily="34" charset="-120"/>
              </a:rPr>
              <a:t>CSMSS Chh. Shahu College of Engineering, Aurangabad   ·   MSME Idea Hackathon 6.0</a:t>
            </a:r>
            <a:endParaRPr lang="en-US" sz="1300" dirty="0"/>
          </a:p>
        </p:txBody>
      </p:sp>
      <p:sp>
        <p:nvSpPr>
          <p:cNvPr id="11" name="Text 7"/>
          <p:cNvSpPr/>
          <p:nvPr/>
        </p:nvSpPr>
        <p:spPr>
          <a:xfrm>
            <a:off x="11002975" y="6446520"/>
            <a:ext cx="914400" cy="274320"/>
          </a:xfrm>
          <a:prstGeom prst="rect">
            <a:avLst/>
          </a:prstGeom>
          <a:noFill/>
          <a:ln/>
        </p:spPr>
        <p:txBody>
          <a:bodyPr wrap="square" lIns="0" tIns="0" rIns="0" bIns="0" rtlCol="0" anchor="ctr"/>
          <a:lstStyle/>
          <a:p>
            <a:pPr algn="r" indent="0" marL="0">
              <a:buNone/>
            </a:pPr>
            <a:r>
              <a:rPr lang="en-US" sz="900" dirty="0">
                <a:solidFill>
                  <a:srgbClr val="5B6B82"/>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2026-08-18T04:37:13Z</dcterms:created>
  <dcterms:modified xsi:type="dcterms:W3CDTF">2026-08-18T04:37:13Z</dcterms:modified>
</cp:coreProperties>
</file>